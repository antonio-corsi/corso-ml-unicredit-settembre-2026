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867" r:id="rId2"/>
    <p:sldId id="288" r:id="rId3"/>
    <p:sldId id="1810" r:id="rId4"/>
    <p:sldId id="1710" r:id="rId5"/>
    <p:sldId id="1811" r:id="rId6"/>
    <p:sldId id="865" r:id="rId7"/>
    <p:sldId id="877" r:id="rId8"/>
    <p:sldId id="1813" r:id="rId9"/>
    <p:sldId id="1815" r:id="rId10"/>
    <p:sldId id="1828" r:id="rId11"/>
    <p:sldId id="1814" r:id="rId12"/>
    <p:sldId id="1827" r:id="rId13"/>
    <p:sldId id="422" r:id="rId14"/>
    <p:sldId id="1829" r:id="rId15"/>
    <p:sldId id="1816" r:id="rId16"/>
    <p:sldId id="1819" r:id="rId17"/>
    <p:sldId id="1817" r:id="rId18"/>
    <p:sldId id="1833" r:id="rId19"/>
    <p:sldId id="1818" r:id="rId20"/>
    <p:sldId id="1830" r:id="rId21"/>
    <p:sldId id="1821" r:id="rId22"/>
    <p:sldId id="1820" r:id="rId23"/>
    <p:sldId id="1822" r:id="rId24"/>
    <p:sldId id="1823" r:id="rId25"/>
    <p:sldId id="1825" r:id="rId26"/>
    <p:sldId id="1824" r:id="rId27"/>
    <p:sldId id="554" r:id="rId28"/>
    <p:sldId id="1832" r:id="rId29"/>
    <p:sldId id="1826" r:id="rId30"/>
    <p:sldId id="1812" r:id="rId31"/>
    <p:sldId id="28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662D97-6995-FA28-1113-C9C25ECA4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62189B-BA05-3B04-BB84-7C86906AA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B6F4BEC-3985-A6CB-9680-4D4BC798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E88057-92A2-BBB1-7950-AE629873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227A60-B8A1-2523-6A34-5128D364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79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2B088F-51D0-6B84-5DDC-944906A5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F999DE-B84B-5DC7-64BF-2C45EE5C3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32BBF3-7C52-E800-0F82-CE2A41F6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6FF537-29C6-A87A-3174-3EF3921E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CD9CB6-519F-E8B8-E855-EFC2B397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382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E693A-94A0-4CE6-52AF-1AF1D29EA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797F0D-6340-5D57-4942-8FCAE220D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E60416-ABCC-34A4-3F20-A096FF0F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C4154-0D58-71F6-EA9D-A441F179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EF5703-6706-5047-D745-A629889D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6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B83B68-445E-C61D-1F8C-FA005A7B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B6ABC6-372A-C11D-FD27-FC9EE85CD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8A0A776-7108-21AD-3719-98397EBA3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697D36-2B74-B862-135E-4054535C8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79A9453-50DA-4AD5-D0A6-F5E77BFA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A194732-B0EA-0988-86B5-489483D2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7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40AAB5-77AF-0E37-12A9-4D265DA2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CE5951-A29E-82BE-1693-E299BE42A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8A00C5-9215-0F2B-6947-C53F4B6CE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79BED3-C8C6-615B-F484-7F6ACF932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C23CD2-6D2E-B549-C8F0-788C26B6C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C697E19-ECBD-59E1-F2B8-25B10B34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1F3099C-A08D-E491-3782-906B37A1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E3DD094-65DD-681D-FB8C-26B022BC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87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9FF9EE-B25C-DED4-81D9-C10D9286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FD1D38-DE0F-A734-9DDF-8F215F1E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688DEF8-6DD3-2540-AD76-8598015E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330109D-3FD3-E99B-872D-5F161BC2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6632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22078DE-743E-BA67-FDC5-5FC08975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C2EBC66-3065-FB70-2BAC-B02BB87D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E7AB660-23BE-1201-45A6-214D82FF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34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3418FF-2FA6-6E44-ED9D-070F651B9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76B841-3A48-C348-B9BA-85B1A0131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ED37ED8-5277-4A89-139C-148350F25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C8A539A-1C84-80DA-808C-5E265ACE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F2FC9F-78E1-AEA0-8E0D-E9F6506B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5624EC-1FBE-0DBA-6C5E-4E017869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4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51B1DA-F037-C8C6-2BDE-31A61851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CB3A185-1F40-C98E-7BFB-EB009B758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A1970C7-EEFF-8B5D-9011-E10DB8608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B79267-EEC5-7A82-2525-8CD96C19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603F066-B2CD-3947-E572-190B23B6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889330-32AE-11CE-F4FA-22DB9A41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30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D53541-6AE6-D490-D0B7-4DBE0331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A031EA3-B165-9E5E-24C6-A0DCDAAFF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DF4B94-2E91-FB36-EBE1-2026ADF8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6B406A7-5A12-A973-0454-E562BA79E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BD4399-BCD4-9EE0-2E84-7ABAB8E6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17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616E1D3-D9B6-4A33-628B-D36EC9315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791553-B848-1DC0-BE6C-E25E22A57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58731B-C8AC-373F-9970-AE6B18B4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8030AE3-F527-791B-0354-A8CC4ED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3C39259-6959-DD72-D5FB-0935D4B2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9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CD96FB3-337E-D3FD-B54C-5CB4A9F80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6C64BC-FBF8-18BE-DF22-87E743365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9164BB-D1E2-97F0-5255-C29D13C3FB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46E53-0C58-47EF-9349-E5461D018616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2936238-5B0C-8157-4121-B2F4D2080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354858-D2FA-1644-0131-75CCDC3E7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538E6C-511D-43F2-9490-5B7F8A81951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33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feed/update/urn:li:activity:7211732058509824000?utm_source=share&amp;utm_medium=member_deskto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hyperlink" Target="ice_cream_shark_attacks_data.xlsx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6093C954-4323-4D3B-952B-50854C59A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617" y="67524"/>
            <a:ext cx="5828571" cy="6790476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71739FFC-9D5F-F92D-1FA5-492D23C81D50}"/>
              </a:ext>
            </a:extLst>
          </p:cNvPr>
          <p:cNvGrpSpPr/>
          <p:nvPr/>
        </p:nvGrpSpPr>
        <p:grpSpPr>
          <a:xfrm>
            <a:off x="2990773" y="5981312"/>
            <a:ext cx="562062" cy="562061"/>
            <a:chOff x="8263156" y="4831788"/>
            <a:chExt cx="713064" cy="679779"/>
          </a:xfrm>
        </p:grpSpPr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F6FD6750-ED2F-FD7F-B3C2-BFB23B8227D3}"/>
                </a:ext>
              </a:extLst>
            </p:cNvPr>
            <p:cNvSpPr/>
            <p:nvPr/>
          </p:nvSpPr>
          <p:spPr>
            <a:xfrm>
              <a:off x="8263156" y="4831788"/>
              <a:ext cx="713064" cy="679779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Triangolo isoscele 5">
              <a:hlinkClick r:id="rId3"/>
              <a:extLst>
                <a:ext uri="{FF2B5EF4-FFF2-40B4-BE49-F238E27FC236}">
                  <a16:creationId xmlns:a16="http://schemas.microsoft.com/office/drawing/2014/main" id="{BA4A9FA8-243C-7011-2FAE-8FE8A7E28F63}"/>
                </a:ext>
              </a:extLst>
            </p:cNvPr>
            <p:cNvSpPr/>
            <p:nvPr/>
          </p:nvSpPr>
          <p:spPr>
            <a:xfrm rot="5400000">
              <a:off x="8507072" y="4984844"/>
              <a:ext cx="378364" cy="37662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80E27F-9ADF-1CF6-5CBE-02626D5FBD91}"/>
              </a:ext>
            </a:extLst>
          </p:cNvPr>
          <p:cNvSpPr txBox="1"/>
          <p:nvPr/>
        </p:nvSpPr>
        <p:spPr>
          <a:xfrm>
            <a:off x="261257" y="165463"/>
            <a:ext cx="191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giugno 2024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9C53634-84B9-C7FD-F86A-69DA71A14F64}"/>
              </a:ext>
            </a:extLst>
          </p:cNvPr>
          <p:cNvSpPr txBox="1"/>
          <p:nvPr/>
        </p:nvSpPr>
        <p:spPr>
          <a:xfrm>
            <a:off x="9004662" y="5611980"/>
            <a:ext cx="1674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Generare contenuto NUOVO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D5EB9D0-0668-5999-8636-F8DF96943558}"/>
              </a:ext>
            </a:extLst>
          </p:cNvPr>
          <p:cNvSpPr txBox="1"/>
          <p:nvPr/>
        </p:nvSpPr>
        <p:spPr>
          <a:xfrm>
            <a:off x="3048990" y="3045422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 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4EF222E-A441-55B9-29F9-09338AF7F2A7}"/>
              </a:ext>
            </a:extLst>
          </p:cNvPr>
          <p:cNvSpPr/>
          <p:nvPr/>
        </p:nvSpPr>
        <p:spPr>
          <a:xfrm>
            <a:off x="5248497" y="2482265"/>
            <a:ext cx="684810" cy="42392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dati tabellari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B3EC1475-93B9-5AFF-7F4E-76DC40238211}"/>
              </a:ext>
            </a:extLst>
          </p:cNvPr>
          <p:cNvSpPr/>
          <p:nvPr/>
        </p:nvSpPr>
        <p:spPr>
          <a:xfrm>
            <a:off x="5248497" y="3580877"/>
            <a:ext cx="684810" cy="42392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dati tabellari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284F490-7B71-50DE-C239-66C5A77944E9}"/>
              </a:ext>
            </a:extLst>
          </p:cNvPr>
          <p:cNvSpPr/>
          <p:nvPr/>
        </p:nvSpPr>
        <p:spPr>
          <a:xfrm>
            <a:off x="5248496" y="4527037"/>
            <a:ext cx="847503" cy="42392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/>
              <a:t>dati non-strutturati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25354DD-4B6F-267B-2B47-5136F2A7F9EA}"/>
              </a:ext>
            </a:extLst>
          </p:cNvPr>
          <p:cNvSpPr/>
          <p:nvPr/>
        </p:nvSpPr>
        <p:spPr>
          <a:xfrm>
            <a:off x="5419105" y="6034046"/>
            <a:ext cx="1353787" cy="7564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Genera NUOVI contenuti</a:t>
            </a:r>
          </a:p>
        </p:txBody>
      </p:sp>
      <p:sp>
        <p:nvSpPr>
          <p:cNvPr id="14" name="Fumetto: rettangolo con angoli arrotondati 13">
            <a:extLst>
              <a:ext uri="{FF2B5EF4-FFF2-40B4-BE49-F238E27FC236}">
                <a16:creationId xmlns:a16="http://schemas.microsoft.com/office/drawing/2014/main" id="{3FB6F876-B0A2-2431-EDC3-42D146483053}"/>
              </a:ext>
            </a:extLst>
          </p:cNvPr>
          <p:cNvSpPr/>
          <p:nvPr/>
        </p:nvSpPr>
        <p:spPr>
          <a:xfrm>
            <a:off x="8906492" y="2291938"/>
            <a:ext cx="3285507" cy="1288939"/>
          </a:xfrm>
          <a:prstGeom prst="wedgeRoundRectCallout">
            <a:avLst>
              <a:gd name="adj1" fmla="val -115364"/>
              <a:gd name="adj2" fmla="val -3835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bg1"/>
                </a:solidFill>
              </a:rPr>
              <a:t>Capire i dati aziendali,</a:t>
            </a:r>
          </a:p>
          <a:p>
            <a:r>
              <a:rPr lang="it-IT" b="1" dirty="0">
                <a:solidFill>
                  <a:schemeClr val="bg1"/>
                </a:solidFill>
              </a:rPr>
              <a:t>Prevedere</a:t>
            </a:r>
            <a:r>
              <a:rPr lang="it-IT" dirty="0">
                <a:solidFill>
                  <a:schemeClr val="bg1"/>
                </a:solidFill>
              </a:rPr>
              <a:t> i fenomeni di business («analisi predittive»),</a:t>
            </a:r>
          </a:p>
          <a:p>
            <a:r>
              <a:rPr lang="it-IT" dirty="0">
                <a:solidFill>
                  <a:schemeClr val="bg1"/>
                </a:solidFill>
              </a:rPr>
              <a:t>Decidere operative</a:t>
            </a:r>
          </a:p>
        </p:txBody>
      </p:sp>
      <p:sp>
        <p:nvSpPr>
          <p:cNvPr id="15" name="Fumetto: rettangolo con angoli arrotondati 14">
            <a:extLst>
              <a:ext uri="{FF2B5EF4-FFF2-40B4-BE49-F238E27FC236}">
                <a16:creationId xmlns:a16="http://schemas.microsoft.com/office/drawing/2014/main" id="{2C28AC19-E718-8ECC-6A2A-505D71D8CAD9}"/>
              </a:ext>
            </a:extLst>
          </p:cNvPr>
          <p:cNvSpPr/>
          <p:nvPr/>
        </p:nvSpPr>
        <p:spPr>
          <a:xfrm>
            <a:off x="8906491" y="2291937"/>
            <a:ext cx="3285507" cy="1288939"/>
          </a:xfrm>
          <a:prstGeom prst="wedgeRoundRectCallout">
            <a:avLst>
              <a:gd name="adj1" fmla="val -116087"/>
              <a:gd name="adj2" fmla="val 77242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bg1"/>
                </a:solidFill>
              </a:rPr>
              <a:t>Capire i dati aziendali,</a:t>
            </a:r>
          </a:p>
          <a:p>
            <a:r>
              <a:rPr lang="it-IT" b="1" dirty="0">
                <a:solidFill>
                  <a:schemeClr val="bg1"/>
                </a:solidFill>
              </a:rPr>
              <a:t>Prevedere</a:t>
            </a:r>
            <a:r>
              <a:rPr lang="it-IT" dirty="0">
                <a:solidFill>
                  <a:schemeClr val="bg1"/>
                </a:solidFill>
              </a:rPr>
              <a:t> i fenomeni di business («analisi predittive»),</a:t>
            </a:r>
          </a:p>
          <a:p>
            <a:r>
              <a:rPr lang="it-IT" dirty="0">
                <a:solidFill>
                  <a:schemeClr val="bg1"/>
                </a:solidFill>
              </a:rPr>
              <a:t>Decidere operative</a:t>
            </a:r>
          </a:p>
        </p:txBody>
      </p:sp>
      <p:sp>
        <p:nvSpPr>
          <p:cNvPr id="16" name="Fumetto: rettangolo con angoli arrotondati 15">
            <a:extLst>
              <a:ext uri="{FF2B5EF4-FFF2-40B4-BE49-F238E27FC236}">
                <a16:creationId xmlns:a16="http://schemas.microsoft.com/office/drawing/2014/main" id="{B8EA0B50-7281-6EE2-3922-B2B36FCF700C}"/>
              </a:ext>
            </a:extLst>
          </p:cNvPr>
          <p:cNvSpPr/>
          <p:nvPr/>
        </p:nvSpPr>
        <p:spPr>
          <a:xfrm>
            <a:off x="8906493" y="2291937"/>
            <a:ext cx="3285507" cy="1288939"/>
          </a:xfrm>
          <a:prstGeom prst="wedgeRoundRectCallout">
            <a:avLst>
              <a:gd name="adj1" fmla="val -131268"/>
              <a:gd name="adj2" fmla="val 134364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bg1"/>
                </a:solidFill>
              </a:rPr>
              <a:t>Capire i dati aziendali,</a:t>
            </a:r>
          </a:p>
          <a:p>
            <a:r>
              <a:rPr lang="it-IT" b="1" dirty="0">
                <a:solidFill>
                  <a:schemeClr val="bg1"/>
                </a:solidFill>
              </a:rPr>
              <a:t>Prevedere</a:t>
            </a:r>
            <a:r>
              <a:rPr lang="it-IT" dirty="0">
                <a:solidFill>
                  <a:schemeClr val="bg1"/>
                </a:solidFill>
              </a:rPr>
              <a:t> i fenomeni di business («analisi predittive»),</a:t>
            </a:r>
          </a:p>
          <a:p>
            <a:r>
              <a:rPr lang="it-IT" dirty="0">
                <a:solidFill>
                  <a:schemeClr val="bg1"/>
                </a:solidFill>
              </a:rPr>
              <a:t>Decisioni operative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6F593E1-5372-BE97-4502-F39C6A57E556}"/>
              </a:ext>
            </a:extLst>
          </p:cNvPr>
          <p:cNvSpPr txBox="1"/>
          <p:nvPr/>
        </p:nvSpPr>
        <p:spPr>
          <a:xfrm>
            <a:off x="120019" y="5211932"/>
            <a:ext cx="2343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Dati non-strutturati: testo, immagini, video, audio (speech), 3D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76226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2CEEF2D-1BF7-4588-A6F6-CC58307B7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243408"/>
            <a:ext cx="9144000" cy="685146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F07D9C-CACD-C65F-F28D-1B6D8252076D}"/>
              </a:ext>
            </a:extLst>
          </p:cNvPr>
          <p:cNvSpPr txBox="1"/>
          <p:nvPr/>
        </p:nvSpPr>
        <p:spPr>
          <a:xfrm>
            <a:off x="1487488" y="6211670"/>
            <a:ext cx="18722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Python </a:t>
            </a:r>
            <a:r>
              <a:rPr lang="it-IT" b="1" i="1" dirty="0" err="1">
                <a:solidFill>
                  <a:srgbClr val="C00000"/>
                </a:solidFill>
              </a:rPr>
              <a:t>pandas</a:t>
            </a:r>
            <a:endParaRPr lang="it-IT" b="1" i="1" dirty="0">
              <a:solidFill>
                <a:srgbClr val="C00000"/>
              </a:solidFill>
            </a:endParaRPr>
          </a:p>
          <a:p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R</a:t>
            </a:r>
          </a:p>
        </p:txBody>
      </p:sp>
      <p:sp>
        <p:nvSpPr>
          <p:cNvPr id="4" name="Fumetto: rettangolo con angoli arrotondati 3">
            <a:extLst>
              <a:ext uri="{FF2B5EF4-FFF2-40B4-BE49-F238E27FC236}">
                <a16:creationId xmlns:a16="http://schemas.microsoft.com/office/drawing/2014/main" id="{CD669330-B423-D41E-78D0-97295F5B4A61}"/>
              </a:ext>
            </a:extLst>
          </p:cNvPr>
          <p:cNvSpPr/>
          <p:nvPr/>
        </p:nvSpPr>
        <p:spPr>
          <a:xfrm>
            <a:off x="8328248" y="1627060"/>
            <a:ext cx="2339752" cy="2595605"/>
          </a:xfrm>
          <a:prstGeom prst="wedgeRoundRectCallout">
            <a:avLst>
              <a:gd name="adj1" fmla="val -110460"/>
              <a:gd name="adj2" fmla="val -15298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L’insieme dei possibili valori è </a:t>
            </a:r>
            <a:r>
              <a:rPr lang="it-IT" sz="1600" b="1" dirty="0">
                <a:solidFill>
                  <a:srgbClr val="C00000"/>
                </a:solidFill>
                <a:latin typeface="Segoe Script" panose="030B0504020000000003" pitchFamily="66" charset="0"/>
              </a:rPr>
              <a:t>finito</a:t>
            </a:r>
            <a:r>
              <a:rPr lang="it-IT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 e spesso </a:t>
            </a:r>
            <a:r>
              <a:rPr lang="it-IT" sz="1600" b="1" dirty="0">
                <a:solidFill>
                  <a:srgbClr val="C00000"/>
                </a:solidFill>
                <a:latin typeface="Segoe Script" panose="030B0504020000000003" pitchFamily="66" charset="0"/>
              </a:rPr>
              <a:t>piccolo. </a:t>
            </a:r>
            <a:r>
              <a:rPr lang="it-IT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Le </a:t>
            </a:r>
            <a:r>
              <a:rPr lang="it-IT" sz="1600" b="1" dirty="0">
                <a:solidFill>
                  <a:srgbClr val="C00000"/>
                </a:solidFill>
                <a:latin typeface="Segoe Script" panose="030B0504020000000003" pitchFamily="66" charset="0"/>
              </a:rPr>
              <a:t>operazioni</a:t>
            </a:r>
            <a:r>
              <a:rPr lang="it-IT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 numeriche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(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somme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,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divisioni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,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ecc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) </a:t>
            </a:r>
            <a:r>
              <a:rPr lang="en-US" sz="1600" b="1" dirty="0">
                <a:solidFill>
                  <a:srgbClr val="C00000"/>
                </a:solidFill>
                <a:latin typeface="Segoe Script" panose="030B0504020000000003" pitchFamily="66" charset="0"/>
              </a:rPr>
              <a:t>non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sono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possibili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.</a:t>
            </a:r>
            <a:endParaRPr lang="it-IT" sz="1600" dirty="0">
              <a:solidFill>
                <a:schemeClr val="accent1">
                  <a:lumMod val="50000"/>
                </a:schemeClr>
              </a:solidFill>
              <a:latin typeface="Segoe Script" panose="030B0504020000000003" pitchFamily="66" charset="0"/>
            </a:endParaRPr>
          </a:p>
        </p:txBody>
      </p:sp>
      <p:sp>
        <p:nvSpPr>
          <p:cNvPr id="5" name="Fumetto: rettangolo con angoli arrotondati 4">
            <a:extLst>
              <a:ext uri="{FF2B5EF4-FFF2-40B4-BE49-F238E27FC236}">
                <a16:creationId xmlns:a16="http://schemas.microsoft.com/office/drawing/2014/main" id="{90767148-7B3C-230F-CC27-B31D0CC3AF9B}"/>
              </a:ext>
            </a:extLst>
          </p:cNvPr>
          <p:cNvSpPr/>
          <p:nvPr/>
        </p:nvSpPr>
        <p:spPr>
          <a:xfrm>
            <a:off x="1548020" y="2847217"/>
            <a:ext cx="2051720" cy="1080120"/>
          </a:xfrm>
          <a:prstGeom prst="wedgeRoundRectCallout">
            <a:avLst>
              <a:gd name="adj1" fmla="val 82412"/>
              <a:gd name="adj2" fmla="val -7620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L’insieme dei possibili valori è </a:t>
            </a:r>
            <a:r>
              <a:rPr lang="it-IT" sz="1600" b="1" dirty="0">
                <a:solidFill>
                  <a:srgbClr val="C00000"/>
                </a:solidFill>
                <a:latin typeface="Segoe Script" panose="030B0504020000000003" pitchFamily="66" charset="0"/>
              </a:rPr>
              <a:t>infinito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718623-5345-C5CC-D316-D0226583ACBB}"/>
              </a:ext>
            </a:extLst>
          </p:cNvPr>
          <p:cNvSpPr txBox="1"/>
          <p:nvPr/>
        </p:nvSpPr>
        <p:spPr>
          <a:xfrm>
            <a:off x="2141832" y="4222666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int64</a:t>
            </a:r>
          </a:p>
          <a:p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Integ</a:t>
            </a:r>
            <a:r>
              <a:rPr lang="it-IT" b="1" i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er</a:t>
            </a:r>
            <a:endParaRPr lang="it-IT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DE4538C-9160-1A21-31AB-C6F428AC6814}"/>
              </a:ext>
            </a:extLst>
          </p:cNvPr>
          <p:cNvSpPr txBox="1"/>
          <p:nvPr/>
        </p:nvSpPr>
        <p:spPr>
          <a:xfrm>
            <a:off x="9408368" y="4222666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solidFill>
                  <a:srgbClr val="C00000"/>
                </a:solidFill>
              </a:rPr>
              <a:t>float64</a:t>
            </a:r>
          </a:p>
          <a:p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numeric</a:t>
            </a:r>
            <a:endParaRPr lang="it-IT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C8C54C4-1B0F-BD8D-4086-EBFE1C9B74B5}"/>
              </a:ext>
            </a:extLst>
          </p:cNvPr>
          <p:cNvSpPr txBox="1"/>
          <p:nvPr/>
        </p:nvSpPr>
        <p:spPr>
          <a:xfrm>
            <a:off x="5447928" y="980729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>
                <a:solidFill>
                  <a:srgbClr val="C00000"/>
                </a:solidFill>
              </a:rPr>
              <a:t>category</a:t>
            </a:r>
            <a:endParaRPr lang="it-IT" b="1" i="1" dirty="0">
              <a:solidFill>
                <a:srgbClr val="C00000"/>
              </a:solidFill>
            </a:endParaRPr>
          </a:p>
          <a:p>
            <a:r>
              <a:rPr lang="it-IT" b="1" i="1" dirty="0" err="1">
                <a:solidFill>
                  <a:schemeClr val="accent1">
                    <a:lumMod val="50000"/>
                  </a:schemeClr>
                </a:solidFill>
              </a:rPr>
              <a:t>factor</a:t>
            </a:r>
            <a:endParaRPr lang="it-IT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E784DD1-293B-E5C3-CE26-64398CBC3D88}"/>
              </a:ext>
            </a:extLst>
          </p:cNvPr>
          <p:cNvSpPr txBox="1"/>
          <p:nvPr/>
        </p:nvSpPr>
        <p:spPr>
          <a:xfrm>
            <a:off x="5231904" y="227687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aka</a:t>
            </a:r>
            <a:r>
              <a:rPr lang="it-IT" dirty="0"/>
              <a:t>, «</a:t>
            </a:r>
            <a:r>
              <a:rPr lang="it-IT" b="1" dirty="0">
                <a:solidFill>
                  <a:srgbClr val="C00000"/>
                </a:solidFill>
              </a:rPr>
              <a:t>categorici</a:t>
            </a:r>
            <a:r>
              <a:rPr lang="it-IT" dirty="0"/>
              <a:t>»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9A5B727-A5BB-321F-0EC5-B50F1A849BA6}"/>
              </a:ext>
            </a:extLst>
          </p:cNvPr>
          <p:cNvSpPr txBox="1"/>
          <p:nvPr/>
        </p:nvSpPr>
        <p:spPr>
          <a:xfrm>
            <a:off x="5159896" y="364502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aka</a:t>
            </a:r>
            <a:r>
              <a:rPr lang="it-IT" dirty="0"/>
              <a:t>, «</a:t>
            </a:r>
            <a:r>
              <a:rPr lang="it-IT" b="1" dirty="0">
                <a:solidFill>
                  <a:srgbClr val="C00000"/>
                </a:solidFill>
              </a:rPr>
              <a:t>numerici</a:t>
            </a:r>
            <a:r>
              <a:rPr lang="it-IT" dirty="0"/>
              <a:t>»</a:t>
            </a:r>
          </a:p>
        </p:txBody>
      </p:sp>
      <p:sp>
        <p:nvSpPr>
          <p:cNvPr id="11" name="Fumetto: rettangolo con angoli arrotondati 10">
            <a:extLst>
              <a:ext uri="{FF2B5EF4-FFF2-40B4-BE49-F238E27FC236}">
                <a16:creationId xmlns:a16="http://schemas.microsoft.com/office/drawing/2014/main" id="{400D6A67-3FE6-9666-89E2-BCF8324809C0}"/>
              </a:ext>
            </a:extLst>
          </p:cNvPr>
          <p:cNvSpPr/>
          <p:nvPr/>
        </p:nvSpPr>
        <p:spPr>
          <a:xfrm>
            <a:off x="1579840" y="1640666"/>
            <a:ext cx="1491825" cy="780222"/>
          </a:xfrm>
          <a:prstGeom prst="wedgeRoundRectCallout">
            <a:avLst>
              <a:gd name="adj1" fmla="val 78697"/>
              <a:gd name="adj2" fmla="val -60638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accent1">
                    <a:lumMod val="50000"/>
                  </a:schemeClr>
                </a:solidFill>
                <a:latin typeface="Segoe Script" panose="030B0504020000000003" pitchFamily="66" charset="0"/>
              </a:rPr>
              <a:t>Non ordinabili</a:t>
            </a:r>
            <a:endParaRPr lang="it-IT" sz="1600" b="1" dirty="0">
              <a:solidFill>
                <a:srgbClr val="C00000"/>
              </a:solidFill>
              <a:latin typeface="Segoe Script" panose="030B05040200000000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699092B-89BF-6F9A-780C-D9C03A5C3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0" y="1"/>
            <a:ext cx="5495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7FF2282D-3C19-51F0-02E0-55E7B7987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24" y="913277"/>
            <a:ext cx="10257143" cy="3790476"/>
          </a:xfrm>
          <a:prstGeom prst="rect">
            <a:avLst/>
          </a:prstGeom>
        </p:spPr>
      </p:pic>
      <p:pic>
        <p:nvPicPr>
          <p:cNvPr id="5" name="Immagine 4" descr="Immagine che contiene testo, donna, vestiti, Costumi&#10;&#10;Il contenuto generato dall'IA potrebbe non essere corretto.">
            <a:extLst>
              <a:ext uri="{FF2B5EF4-FFF2-40B4-BE49-F238E27FC236}">
                <a16:creationId xmlns:a16="http://schemas.microsoft.com/office/drawing/2014/main" id="{E566F8CD-0278-9F24-1098-12533932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976" y="4809506"/>
            <a:ext cx="1566024" cy="194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2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4905926-ABEA-453F-00B0-FFB6915A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6F66ABF-F913-04CD-5313-6180AD3C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194" y="0"/>
            <a:ext cx="6111611" cy="68580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8F30E63-CA38-C6F5-0108-42BFC304255D}"/>
              </a:ext>
            </a:extLst>
          </p:cNvPr>
          <p:cNvSpPr txBox="1"/>
          <p:nvPr/>
        </p:nvSpPr>
        <p:spPr>
          <a:xfrm>
            <a:off x="261257" y="165463"/>
            <a:ext cx="191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luglio </a:t>
            </a:r>
            <a:r>
              <a:rPr lang="it-IT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433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59383D7-2AA7-6E0F-0CA4-6351EBC6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03" y="0"/>
            <a:ext cx="10376297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E0F584-0910-A4B2-187F-74DA438714BC}"/>
              </a:ext>
            </a:extLst>
          </p:cNvPr>
          <p:cNvSpPr txBox="1"/>
          <p:nvPr/>
        </p:nvSpPr>
        <p:spPr>
          <a:xfrm>
            <a:off x="261257" y="165463"/>
            <a:ext cx="191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giugno 2024</a:t>
            </a:r>
          </a:p>
        </p:txBody>
      </p:sp>
    </p:spTree>
    <p:extLst>
      <p:ext uri="{BB962C8B-B14F-4D97-AF65-F5344CB8AC3E}">
        <p14:creationId xmlns:p14="http://schemas.microsoft.com/office/powerpoint/2010/main" val="1097045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45CF659-C81F-4091-A1A7-C055015CD75A}"/>
              </a:ext>
            </a:extLst>
          </p:cNvPr>
          <p:cNvSpPr txBox="1"/>
          <p:nvPr/>
        </p:nvSpPr>
        <p:spPr>
          <a:xfrm>
            <a:off x="261257" y="165463"/>
            <a:ext cx="191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luglio </a:t>
            </a:r>
            <a:r>
              <a:rPr lang="it-IT" dirty="0"/>
              <a:t>2024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BB2C606-1C3E-E1A4-36D2-3A5A15517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3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3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126257C-5E86-860D-9252-3B970309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129"/>
            <a:ext cx="6257143" cy="602857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53ED15A-2B4F-401C-97CA-6ADC1BC4434F}"/>
              </a:ext>
            </a:extLst>
          </p:cNvPr>
          <p:cNvSpPr txBox="1"/>
          <p:nvPr/>
        </p:nvSpPr>
        <p:spPr>
          <a:xfrm>
            <a:off x="219075" y="114300"/>
            <a:ext cx="2419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Esempi di regressione in ambito bancario</a:t>
            </a:r>
            <a:endParaRPr lang="en-GB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CDC6480-AEBA-2CCF-BD00-5C878CB0D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429000"/>
            <a:ext cx="5543165" cy="986786"/>
          </a:xfrm>
          <a:prstGeom prst="rect">
            <a:avLst/>
          </a:prstGeom>
        </p:spPr>
      </p:pic>
      <p:pic>
        <p:nvPicPr>
          <p:cNvPr id="5" name="Immagine 4" descr="Orange Logotype by Agnieszka Rovsnik on Dribbble">
            <a:extLst>
              <a:ext uri="{FF2B5EF4-FFF2-40B4-BE49-F238E27FC236}">
                <a16:creationId xmlns:a16="http://schemas.microsoft.com/office/drawing/2014/main" id="{74FC0BAD-B134-ED9E-2C52-5775CA052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507243"/>
            <a:ext cx="1154318" cy="865739"/>
          </a:xfrm>
          <a:prstGeom prst="rect">
            <a:avLst/>
          </a:prstGeom>
        </p:spPr>
      </p:pic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7C98194B-9BAB-9B6C-6C14-8FA438DD87A3}"/>
              </a:ext>
            </a:extLst>
          </p:cNvPr>
          <p:cNvSpPr/>
          <p:nvPr/>
        </p:nvSpPr>
        <p:spPr>
          <a:xfrm rot="10800000">
            <a:off x="5747470" y="977527"/>
            <a:ext cx="444818" cy="2235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425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0D29381B-2B89-87DC-FEF6-F2DC88298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693135"/>
            <a:ext cx="12192000" cy="44252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E75912B-4A7A-B59A-19F5-2867298FBA19}"/>
              </a:ext>
            </a:extLst>
          </p:cNvPr>
          <p:cNvSpPr txBox="1"/>
          <p:nvPr/>
        </p:nvSpPr>
        <p:spPr>
          <a:xfrm>
            <a:off x="819150" y="2274838"/>
            <a:ext cx="107060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Il file ha </a:t>
            </a:r>
            <a:r>
              <a:rPr lang="en-GB" dirty="0" err="1"/>
              <a:t>l'intestazione</a:t>
            </a:r>
            <a:r>
              <a:rPr lang="en-GB" dirty="0"/>
              <a:t> a </a:t>
            </a:r>
            <a:r>
              <a:rPr lang="en-GB" dirty="0" err="1"/>
              <a:t>tre</a:t>
            </a:r>
            <a:r>
              <a:rPr lang="en-GB" dirty="0"/>
              <a:t> </a:t>
            </a:r>
            <a:r>
              <a:rPr lang="en-GB" dirty="0" err="1"/>
              <a:t>righe</a:t>
            </a:r>
            <a:r>
              <a:rPr lang="en-GB" dirty="0"/>
              <a:t> di Orange: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riga</a:t>
            </a:r>
            <a:r>
              <a:rPr lang="en-GB" dirty="0"/>
              <a:t> 1 </a:t>
            </a:r>
            <a:r>
              <a:rPr lang="en-GB" dirty="0" err="1"/>
              <a:t>nomi</a:t>
            </a:r>
            <a:r>
              <a:rPr lang="en-GB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riga</a:t>
            </a:r>
            <a:r>
              <a:rPr lang="en-GB" dirty="0"/>
              <a:t> 2 tipi (</a:t>
            </a:r>
            <a:r>
              <a:rPr lang="en-GB" dirty="0">
                <a:latin typeface="+mn-lt"/>
              </a:rPr>
              <a:t>string</a:t>
            </a:r>
            <a:r>
              <a:rPr lang="en-GB" dirty="0"/>
              <a:t> / </a:t>
            </a:r>
            <a:r>
              <a:rPr lang="en-GB" dirty="0">
                <a:latin typeface="+mn-lt"/>
              </a:rPr>
              <a:t>discrete</a:t>
            </a:r>
            <a:r>
              <a:rPr lang="en-GB" dirty="0"/>
              <a:t> / </a:t>
            </a:r>
            <a:r>
              <a:rPr lang="en-GB" dirty="0">
                <a:latin typeface="+mn-lt"/>
              </a:rPr>
              <a:t>continuous</a:t>
            </a:r>
            <a:r>
              <a:rPr lang="en-GB" dirty="0"/>
              <a:t>),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riga</a:t>
            </a:r>
            <a:r>
              <a:rPr lang="en-GB" dirty="0"/>
              <a:t> 3 </a:t>
            </a:r>
            <a:r>
              <a:rPr lang="en-GB" dirty="0" err="1"/>
              <a:t>ruoli</a:t>
            </a:r>
            <a:r>
              <a:rPr lang="en-GB" dirty="0"/>
              <a:t> (</a:t>
            </a:r>
            <a:r>
              <a:rPr lang="en-GB" dirty="0">
                <a:latin typeface="+mn-lt"/>
              </a:rPr>
              <a:t>meta</a:t>
            </a:r>
            <a:r>
              <a:rPr lang="en-GB" dirty="0"/>
              <a:t> per </a:t>
            </a:r>
            <a:r>
              <a:rPr lang="en-GB" dirty="0" err="1"/>
              <a:t>l'id</a:t>
            </a:r>
            <a:r>
              <a:rPr lang="en-GB" dirty="0"/>
              <a:t>, </a:t>
            </a:r>
            <a:r>
              <a:rPr lang="en-GB" dirty="0">
                <a:latin typeface="+mn-lt"/>
              </a:rPr>
              <a:t>class</a:t>
            </a:r>
            <a:r>
              <a:rPr lang="en-GB" dirty="0"/>
              <a:t> per il </a:t>
            </a:r>
            <a:r>
              <a:rPr lang="en-GB" dirty="0" err="1"/>
              <a:t>prezzo</a:t>
            </a:r>
            <a:r>
              <a:rPr lang="en-GB" dirty="0"/>
              <a:t>). </a:t>
            </a:r>
          </a:p>
          <a:p>
            <a:endParaRPr lang="en-GB" dirty="0"/>
          </a:p>
          <a:p>
            <a:r>
              <a:rPr lang="en-GB" dirty="0" err="1"/>
              <a:t>Così</a:t>
            </a:r>
            <a:r>
              <a:rPr lang="en-GB" dirty="0"/>
              <a:t> Orange </a:t>
            </a:r>
            <a:r>
              <a:rPr lang="en-GB" dirty="0" err="1"/>
              <a:t>sa</a:t>
            </a:r>
            <a:r>
              <a:rPr lang="en-GB" dirty="0"/>
              <a:t> da solo qual è il target e non </a:t>
            </a:r>
            <a:r>
              <a:rPr lang="en-GB" dirty="0" err="1"/>
              <a:t>deve</a:t>
            </a:r>
            <a:r>
              <a:rPr lang="en-GB" dirty="0"/>
              <a:t> </a:t>
            </a:r>
            <a:r>
              <a:rPr lang="en-GB" dirty="0" err="1"/>
              <a:t>indovinare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tipi, </a:t>
            </a:r>
            <a:r>
              <a:rPr lang="en-GB" dirty="0" err="1"/>
              <a:t>cosa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con 10 </a:t>
            </a:r>
            <a:r>
              <a:rPr lang="en-GB" dirty="0" err="1"/>
              <a:t>righe</a:t>
            </a:r>
            <a:r>
              <a:rPr lang="en-GB" dirty="0"/>
              <a:t> </a:t>
            </a:r>
            <a:r>
              <a:rPr lang="en-GB" dirty="0" err="1"/>
              <a:t>sbaglierebbe</a:t>
            </a:r>
            <a:r>
              <a:rPr lang="en-GB" dirty="0"/>
              <a:t> di </a:t>
            </a:r>
            <a:r>
              <a:rPr lang="en-GB" dirty="0" err="1"/>
              <a:t>sicuro</a:t>
            </a:r>
            <a:r>
              <a:rPr lang="en-GB" dirty="0"/>
              <a:t> (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colonna</a:t>
            </a:r>
            <a:r>
              <a:rPr lang="en-GB" dirty="0"/>
              <a:t> con </a:t>
            </a:r>
            <a:r>
              <a:rPr lang="en-GB" dirty="0" err="1">
                <a:latin typeface="+mn-lt"/>
              </a:rPr>
              <a:t>citta</a:t>
            </a:r>
            <a:r>
              <a:rPr lang="en-GB" dirty="0"/>
              <a:t> diverse in ogni </a:t>
            </a:r>
            <a:r>
              <a:rPr lang="en-GB" dirty="0" err="1"/>
              <a:t>riga</a:t>
            </a:r>
            <a:r>
              <a:rPr lang="en-GB" dirty="0"/>
              <a:t> </a:t>
            </a:r>
            <a:r>
              <a:rPr lang="en-GB" dirty="0" err="1"/>
              <a:t>diventerebbe</a:t>
            </a:r>
            <a:r>
              <a:rPr lang="en-GB" dirty="0"/>
              <a:t> </a:t>
            </a:r>
            <a:r>
              <a:rPr lang="en-GB" dirty="0" err="1"/>
              <a:t>stringa</a:t>
            </a:r>
            <a:r>
              <a:rPr lang="en-GB" dirty="0"/>
              <a:t> e </a:t>
            </a:r>
            <a:r>
              <a:rPr lang="en-GB" dirty="0" err="1"/>
              <a:t>finirebbe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meta, </a:t>
            </a:r>
            <a:r>
              <a:rPr lang="en-GB" dirty="0" err="1"/>
              <a:t>invisibile</a:t>
            </a:r>
            <a:r>
              <a:rPr lang="en-GB" dirty="0"/>
              <a:t> al </a:t>
            </a:r>
            <a:r>
              <a:rPr lang="en-GB" dirty="0" err="1"/>
              <a:t>modello</a:t>
            </a:r>
            <a:r>
              <a:rPr lang="en-GB" dirty="0"/>
              <a:t>). </a:t>
            </a:r>
          </a:p>
          <a:p>
            <a:endParaRPr lang="en-GB" b="1" i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1444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1AE5BDF-B78C-44D9-3AC4-0C910761D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082" y="276619"/>
            <a:ext cx="6419048" cy="6304762"/>
          </a:xfrm>
          <a:prstGeom prst="rect">
            <a:avLst/>
          </a:prstGeom>
        </p:spPr>
      </p:pic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7555006F-27CC-C430-16D5-DDBA8734ADF0}"/>
              </a:ext>
            </a:extLst>
          </p:cNvPr>
          <p:cNvSpPr/>
          <p:nvPr/>
        </p:nvSpPr>
        <p:spPr>
          <a:xfrm>
            <a:off x="7405735" y="1457608"/>
            <a:ext cx="334978" cy="188312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0A8C67-87C8-4FF8-9141-25953B085952}"/>
              </a:ext>
            </a:extLst>
          </p:cNvPr>
          <p:cNvSpPr txBox="1"/>
          <p:nvPr/>
        </p:nvSpPr>
        <p:spPr>
          <a:xfrm>
            <a:off x="7967050" y="1910281"/>
            <a:ext cx="3612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Attenzione, questi sono i tipi dati ammessi nei file .tab / .csv di </a:t>
            </a:r>
            <a:r>
              <a:rPr lang="it-IT" b="1" dirty="0">
                <a:solidFill>
                  <a:srgbClr val="FF0000"/>
                </a:solidFill>
              </a:rPr>
              <a:t>input</a:t>
            </a:r>
            <a:r>
              <a:rPr lang="it-IT" dirty="0"/>
              <a:t> a Orange. Non sono i 4 data-</a:t>
            </a:r>
            <a:r>
              <a:rPr lang="it-IT" dirty="0" err="1"/>
              <a:t>type</a:t>
            </a:r>
            <a:r>
              <a:rPr lang="it-IT" dirty="0"/>
              <a:t> di Orange (</a:t>
            </a:r>
            <a:r>
              <a:rPr lang="it-IT" b="1" dirty="0">
                <a:solidFill>
                  <a:srgbClr val="FF0000"/>
                </a:solidFill>
              </a:rPr>
              <a:t>dentro</a:t>
            </a:r>
            <a:r>
              <a:rPr lang="it-IT" dirty="0"/>
              <a:t>): N, C, D, T</a:t>
            </a:r>
            <a:endParaRPr lang="en-GB" dirty="0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17D6B78-D1C7-1133-F3B6-9C17340DE50D}"/>
              </a:ext>
            </a:extLst>
          </p:cNvPr>
          <p:cNvCxnSpPr/>
          <p:nvPr/>
        </p:nvCxnSpPr>
        <p:spPr>
          <a:xfrm>
            <a:off x="3675707" y="1593410"/>
            <a:ext cx="10683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rentesi graffa chiusa 8">
            <a:extLst>
              <a:ext uri="{FF2B5EF4-FFF2-40B4-BE49-F238E27FC236}">
                <a16:creationId xmlns:a16="http://schemas.microsoft.com/office/drawing/2014/main" id="{89844DBD-0B76-B886-9B50-E7835FEF5B07}"/>
              </a:ext>
            </a:extLst>
          </p:cNvPr>
          <p:cNvSpPr/>
          <p:nvPr/>
        </p:nvSpPr>
        <p:spPr>
          <a:xfrm>
            <a:off x="7799561" y="3429001"/>
            <a:ext cx="312344" cy="15232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5D2C834-527D-7A24-199B-7D3F95B8DADD}"/>
              </a:ext>
            </a:extLst>
          </p:cNvPr>
          <p:cNvSpPr txBox="1"/>
          <p:nvPr/>
        </p:nvSpPr>
        <p:spPr>
          <a:xfrm>
            <a:off x="8382000" y="3474919"/>
            <a:ext cx="36123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Attenzione, questi sono i ruoli  ammessi nei file .tab / .csv di </a:t>
            </a:r>
            <a:r>
              <a:rPr lang="it-IT" b="1" dirty="0">
                <a:solidFill>
                  <a:srgbClr val="FF0000"/>
                </a:solidFill>
              </a:rPr>
              <a:t>input</a:t>
            </a:r>
            <a:r>
              <a:rPr lang="it-IT" dirty="0"/>
              <a:t> a Orange. Non sono i 4 ruoli di Orange (</a:t>
            </a:r>
            <a:r>
              <a:rPr lang="it-IT" b="1" dirty="0">
                <a:solidFill>
                  <a:srgbClr val="FF0000"/>
                </a:solidFill>
              </a:rPr>
              <a:t>dentro</a:t>
            </a:r>
            <a:r>
              <a:rPr lang="it-IT" dirty="0"/>
              <a:t>): feature, target, meta, skip.</a:t>
            </a:r>
            <a:endParaRPr lang="en-GB" dirty="0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816C7F47-099F-FD28-28A1-A7F8E83DF431}"/>
              </a:ext>
            </a:extLst>
          </p:cNvPr>
          <p:cNvCxnSpPr/>
          <p:nvPr/>
        </p:nvCxnSpPr>
        <p:spPr>
          <a:xfrm>
            <a:off x="4265694" y="5629746"/>
            <a:ext cx="3352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3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94FD74D-16A4-39AB-2362-FC3E9EFD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73" y="1354759"/>
            <a:ext cx="5876528" cy="526952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89BF353-2C56-C5E5-20C8-334E23072AAA}"/>
              </a:ext>
            </a:extLst>
          </p:cNvPr>
          <p:cNvSpPr txBox="1"/>
          <p:nvPr/>
        </p:nvSpPr>
        <p:spPr>
          <a:xfrm>
            <a:off x="219075" y="114300"/>
            <a:ext cx="3714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Dataset </a:t>
            </a:r>
            <a:r>
              <a:rPr lang="it-IT" b="1" i="1" dirty="0">
                <a:solidFill>
                  <a:srgbClr val="FF0000"/>
                </a:solidFill>
              </a:rPr>
              <a:t>alloggi_vendita.csv</a:t>
            </a:r>
          </a:p>
          <a:p>
            <a:r>
              <a:rPr lang="it-IT" dirty="0"/>
              <a:t>I predittori</a:t>
            </a:r>
            <a:endParaRPr lang="en-GB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0ABC2FD-3D44-E966-3E6C-75CE277D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095" y="881332"/>
            <a:ext cx="5691787" cy="426664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35F503F-780F-5356-2540-6F6049DE3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381" y="5477048"/>
            <a:ext cx="6247619" cy="1380952"/>
          </a:xfrm>
          <a:prstGeom prst="rect">
            <a:avLst/>
          </a:prstGeom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CC3660E8-E51B-ECCD-E6BC-8C25CFBE79F0}"/>
              </a:ext>
            </a:extLst>
          </p:cNvPr>
          <p:cNvCxnSpPr/>
          <p:nvPr/>
        </p:nvCxnSpPr>
        <p:spPr>
          <a:xfrm>
            <a:off x="6810375" y="6400800"/>
            <a:ext cx="19907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451FDB16-1CD1-08FD-2E14-6780CFED92B7}"/>
              </a:ext>
            </a:extLst>
          </p:cNvPr>
          <p:cNvCxnSpPr/>
          <p:nvPr/>
        </p:nvCxnSpPr>
        <p:spPr>
          <a:xfrm>
            <a:off x="9877425" y="6624280"/>
            <a:ext cx="19907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7A83EF52-4C73-FDD0-868E-87CB04EEA4F6}"/>
              </a:ext>
            </a:extLst>
          </p:cNvPr>
          <p:cNvCxnSpPr/>
          <p:nvPr/>
        </p:nvCxnSpPr>
        <p:spPr>
          <a:xfrm>
            <a:off x="6029326" y="6819900"/>
            <a:ext cx="199072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A625D91-FF8D-9B85-0B19-2991CCB6B370}"/>
              </a:ext>
            </a:extLst>
          </p:cNvPr>
          <p:cNvSpPr txBox="1"/>
          <p:nvPr/>
        </p:nvSpPr>
        <p:spPr>
          <a:xfrm>
            <a:off x="3530851" y="1955548"/>
            <a:ext cx="1448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i="1" dirty="0"/>
              <a:t>del dataset attuale</a:t>
            </a:r>
            <a:endParaRPr lang="en-GB" sz="1100" i="1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585E71-2660-1CFA-05D3-8623679E2ED0}"/>
              </a:ext>
            </a:extLst>
          </p:cNvPr>
          <p:cNvSpPr txBox="1"/>
          <p:nvPr/>
        </p:nvSpPr>
        <p:spPr>
          <a:xfrm>
            <a:off x="4182701" y="114300"/>
            <a:ext cx="75391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I file CSV possono contenere all’inizio varie righe di </a:t>
            </a:r>
            <a:r>
              <a:rPr lang="it-IT" sz="1100" dirty="0" err="1"/>
              <a:t>header</a:t>
            </a:r>
            <a:r>
              <a:rPr lang="it-IT" sz="1100" dirty="0"/>
              <a:t> con i metadati. </a:t>
            </a:r>
            <a:r>
              <a:rPr lang="it-IT" sz="1100" dirty="0" err="1"/>
              <a:t>Mentra</a:t>
            </a:r>
            <a:r>
              <a:rPr lang="it-IT" sz="1100" dirty="0"/>
              <a:t> quasi tutti i file csv hanno la prima riga di </a:t>
            </a:r>
            <a:r>
              <a:rPr lang="it-IT" sz="1100" dirty="0" err="1"/>
              <a:t>header</a:t>
            </a:r>
            <a:r>
              <a:rPr lang="it-IT" sz="1100" dirty="0"/>
              <a:t> con l’elenco dei nomi delle colonne, spesso il data-</a:t>
            </a:r>
            <a:r>
              <a:rPr lang="it-IT" sz="1100" dirty="0" err="1"/>
              <a:t>type</a:t>
            </a:r>
            <a:r>
              <a:rPr lang="it-IT" sz="1100" dirty="0"/>
              <a:t> e il ruolo delle varie colonne NON è indicato, e viene quindi INFERITO (dedotto) da Orange, che, tuttavia, può fare degli errori.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41209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05CAA6-53C5-F5AB-DDA4-80C3FD1EE7B8}"/>
              </a:ext>
            </a:extLst>
          </p:cNvPr>
          <p:cNvSpPr txBox="1"/>
          <p:nvPr/>
        </p:nvSpPr>
        <p:spPr>
          <a:xfrm>
            <a:off x="914398" y="1131681"/>
            <a:ext cx="107283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correlazione tra un predittore e la risposta è una cosa buona (perché indica che il predittore spiega la risposta, è in grado di prevederla). Al contrario, la correlazione tra predittori è una cosa negativa, perché significa che essi sono ridondanti tra loro. Per ragioni matematiche che qui non spieghiamo i modelli predittivi con (alcuni) predittori correlati funzionano meno bene, cioè le loro previsioni sono meno precise. </a:t>
            </a:r>
          </a:p>
          <a:p>
            <a:r>
              <a:rPr lang="it-IT" dirty="0"/>
              <a:t>E’ dunque importante nella fase di analisi preliminare alla previsione calcolare le correlazioni tra le variabili del dataset: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Tendezialmente</a:t>
            </a:r>
            <a:r>
              <a:rPr lang="it-IT" dirty="0"/>
              <a:t>, predittori correlati con la risposta sono da tenere nel modello (*)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Predittori correlati tra loro? </a:t>
            </a:r>
            <a:r>
              <a:rPr lang="it-IT" dirty="0">
                <a:sym typeface="Wingdings" panose="05000000000000000000" pitchFamily="2" charset="2"/>
              </a:rPr>
              <a:t> eliminarne uno (a nostra scelta.</a:t>
            </a:r>
          </a:p>
          <a:p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Regola aurea: l’esperto/a (la persona) prevale sempre sugli algoritmi e sui calcoli. Quindi, può essere che lui/lei conservi un predittore all’interno del modello anche se, nel dataset di training, esso appare poco correlato con la risposta</a:t>
            </a:r>
          </a:p>
          <a:p>
            <a:endParaRPr lang="it-IT" dirty="0">
              <a:sym typeface="Wingdings" panose="05000000000000000000" pitchFamily="2" charset="2"/>
            </a:endParaRPr>
          </a:p>
          <a:p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(*) eliminare un predittore dal modello NON vuol dire necessariamente cancellare quella colonna dal file.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271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95ABA2B4-3419-867A-F5F3-67F9BB28A33F}"/>
              </a:ext>
            </a:extLst>
          </p:cNvPr>
          <p:cNvGrpSpPr/>
          <p:nvPr/>
        </p:nvGrpSpPr>
        <p:grpSpPr>
          <a:xfrm>
            <a:off x="6350905" y="3212977"/>
            <a:ext cx="4209593" cy="2104797"/>
            <a:chOff x="4916658" y="4005064"/>
            <a:chExt cx="4209593" cy="2104797"/>
          </a:xfrm>
        </p:grpSpPr>
        <p:pic>
          <p:nvPicPr>
            <p:cNvPr id="7176" name="Picture 8" descr="Confounding Variable and Spurious Correlation: Key Challenge in Making  Causal Inference | by Vivekananda Das | Level Up Codi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6658" y="4005064"/>
              <a:ext cx="4209593" cy="2104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B4D17C4B-B53D-4E23-9454-7366AA5BE14D}"/>
                </a:ext>
              </a:extLst>
            </p:cNvPr>
            <p:cNvSpPr txBox="1"/>
            <p:nvPr/>
          </p:nvSpPr>
          <p:spPr>
            <a:xfrm>
              <a:off x="6237594" y="4826631"/>
              <a:ext cx="18179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/>
                <a:t>True </a:t>
              </a:r>
              <a:r>
                <a:rPr lang="it-IT" sz="1200" dirty="0" err="1"/>
                <a:t>correlations</a:t>
              </a:r>
              <a:r>
                <a:rPr lang="it-IT" sz="1200" dirty="0"/>
                <a:t> (id est, one </a:t>
              </a:r>
              <a:r>
                <a:rPr lang="it-IT" sz="1200" dirty="0" err="1"/>
                <a:t>causes</a:t>
              </a:r>
              <a:r>
                <a:rPr lang="it-IT" sz="1200" dirty="0"/>
                <a:t> the </a:t>
              </a:r>
              <a:r>
                <a:rPr lang="it-IT" sz="1200" dirty="0" err="1"/>
                <a:t>other</a:t>
              </a:r>
              <a:r>
                <a:rPr lang="it-IT" sz="1200" dirty="0"/>
                <a:t>)</a:t>
              </a: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39854A8-4A04-47D2-B2EB-8F091B5FCD0A}"/>
              </a:ext>
            </a:extLst>
          </p:cNvPr>
          <p:cNvSpPr txBox="1"/>
          <p:nvPr/>
        </p:nvSpPr>
        <p:spPr>
          <a:xfrm>
            <a:off x="1597895" y="5836728"/>
            <a:ext cx="896260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i="1" dirty="0"/>
              <a:t>A multiple </a:t>
            </a:r>
            <a:r>
              <a:rPr lang="it-IT" sz="1400" i="1" dirty="0" err="1"/>
              <a:t>regression</a:t>
            </a:r>
            <a:r>
              <a:rPr lang="it-IT" sz="1400" i="1" dirty="0"/>
              <a:t> model of </a:t>
            </a:r>
            <a:r>
              <a:rPr lang="it-IT" sz="1400" i="1" dirty="0" err="1"/>
              <a:t>shark</a:t>
            </a:r>
            <a:r>
              <a:rPr lang="it-IT" sz="1400" i="1" dirty="0"/>
              <a:t> </a:t>
            </a:r>
            <a:r>
              <a:rPr lang="it-IT" sz="1400" i="1" dirty="0" err="1"/>
              <a:t>attacks</a:t>
            </a:r>
            <a:r>
              <a:rPr lang="it-IT" sz="1400" i="1" dirty="0"/>
              <a:t>  vs </a:t>
            </a:r>
            <a:r>
              <a:rPr lang="it-IT" sz="1400" i="1" dirty="0" err="1"/>
              <a:t>ice</a:t>
            </a:r>
            <a:r>
              <a:rPr lang="it-IT" sz="1400" i="1" dirty="0"/>
              <a:t> </a:t>
            </a:r>
            <a:r>
              <a:rPr lang="it-IT" sz="1400" i="1" dirty="0" err="1"/>
              <a:t>cream</a:t>
            </a:r>
            <a:r>
              <a:rPr lang="it-IT" sz="1400" i="1" dirty="0"/>
              <a:t> sales and temperature </a:t>
            </a:r>
            <a:r>
              <a:rPr lang="it-IT" sz="1400" i="1" dirty="0" err="1"/>
              <a:t>reveals</a:t>
            </a:r>
            <a:r>
              <a:rPr lang="it-IT" sz="1400" i="1" dirty="0"/>
              <a:t> </a:t>
            </a:r>
            <a:r>
              <a:rPr lang="it-IT" sz="1400" i="1" dirty="0" err="1"/>
              <a:t>that</a:t>
            </a:r>
            <a:r>
              <a:rPr lang="it-IT" sz="1400" i="1" dirty="0"/>
              <a:t>, </a:t>
            </a:r>
            <a:r>
              <a:rPr lang="it-IT" sz="1400" i="1" dirty="0" err="1"/>
              <a:t>as</a:t>
            </a:r>
            <a:r>
              <a:rPr lang="it-IT" sz="1400" i="1" dirty="0"/>
              <a:t> </a:t>
            </a:r>
            <a:r>
              <a:rPr lang="it-IT" sz="1400" i="1" dirty="0" err="1"/>
              <a:t>intuition</a:t>
            </a:r>
            <a:r>
              <a:rPr lang="it-IT" sz="1400" i="1" dirty="0"/>
              <a:t> </a:t>
            </a:r>
            <a:r>
              <a:rPr lang="it-IT" sz="1400" i="1" dirty="0" err="1"/>
              <a:t>implies</a:t>
            </a:r>
            <a:r>
              <a:rPr lang="it-IT" sz="1400" i="1" dirty="0"/>
              <a:t>, the </a:t>
            </a:r>
            <a:r>
              <a:rPr lang="it-IT" sz="1400" i="1" dirty="0" err="1"/>
              <a:t>former</a:t>
            </a:r>
            <a:r>
              <a:rPr lang="it-IT" sz="1400" i="1" dirty="0"/>
              <a:t> </a:t>
            </a:r>
            <a:r>
              <a:rPr lang="it-IT" sz="1400" i="1" dirty="0" err="1"/>
              <a:t>predictor</a:t>
            </a:r>
            <a:r>
              <a:rPr lang="it-IT" sz="1400" i="1" dirty="0"/>
              <a:t> </a:t>
            </a:r>
            <a:r>
              <a:rPr lang="it-IT" sz="1400" i="1" dirty="0" err="1"/>
              <a:t>is</a:t>
            </a:r>
            <a:r>
              <a:rPr lang="it-IT" sz="1400" i="1" dirty="0"/>
              <a:t> no </a:t>
            </a:r>
            <a:r>
              <a:rPr lang="it-IT" sz="1400" i="1" dirty="0" err="1"/>
              <a:t>longer</a:t>
            </a:r>
            <a:r>
              <a:rPr lang="it-IT" sz="1400" i="1" dirty="0"/>
              <a:t> </a:t>
            </a:r>
            <a:r>
              <a:rPr lang="it-IT" sz="1400" i="1" dirty="0" err="1"/>
              <a:t>significant</a:t>
            </a:r>
            <a:r>
              <a:rPr lang="it-IT" sz="1400" i="1" dirty="0"/>
              <a:t> after </a:t>
            </a:r>
            <a:r>
              <a:rPr lang="it-IT" sz="1400" i="1" u="sng" dirty="0" err="1"/>
              <a:t>adjusting</a:t>
            </a:r>
            <a:r>
              <a:rPr lang="it-IT" sz="1400" i="1" u="sng" dirty="0"/>
              <a:t> for temperature</a:t>
            </a:r>
            <a:r>
              <a:rPr lang="it-IT" sz="1400" i="1" dirty="0"/>
              <a:t> – </a:t>
            </a:r>
            <a:r>
              <a:rPr lang="it-IT" sz="1400" i="1" dirty="0" err="1"/>
              <a:t>ISLvR</a:t>
            </a:r>
            <a:r>
              <a:rPr lang="it-IT" sz="1400" i="1" dirty="0"/>
              <a:t> (1° ed., p. 74)</a:t>
            </a:r>
          </a:p>
          <a:p>
            <a:endParaRPr lang="it-IT" sz="1400" i="1" dirty="0"/>
          </a:p>
          <a:p>
            <a:r>
              <a:rPr lang="it-IT" sz="1400" u="sng" dirty="0"/>
              <a:t>Modello corretto</a:t>
            </a:r>
            <a:r>
              <a:rPr lang="it-IT" sz="1400" dirty="0"/>
              <a:t>: </a:t>
            </a:r>
            <a:r>
              <a:rPr lang="it-IT" sz="1400" dirty="0" err="1"/>
              <a:t>shark-attacks</a:t>
            </a:r>
            <a:r>
              <a:rPr lang="it-IT" sz="1400" dirty="0"/>
              <a:t> = f(</a:t>
            </a:r>
            <a:r>
              <a:rPr lang="it-IT" sz="1400" dirty="0" err="1"/>
              <a:t>temperatures</a:t>
            </a:r>
            <a:r>
              <a:rPr lang="it-IT" sz="1400" dirty="0"/>
              <a:t> </a:t>
            </a:r>
            <a:r>
              <a:rPr lang="it-IT" sz="1400" dirty="0" err="1"/>
              <a:t>holidays</a:t>
            </a:r>
            <a:r>
              <a:rPr lang="it-IT" sz="1400" dirty="0"/>
              <a:t>, </a:t>
            </a:r>
            <a:r>
              <a:rPr lang="it-IT" sz="1400" dirty="0" err="1"/>
              <a:t>etc</a:t>
            </a:r>
            <a:r>
              <a:rPr lang="it-IT" sz="1400" dirty="0"/>
              <a:t>) [</a:t>
            </a:r>
            <a:r>
              <a:rPr lang="it-IT" sz="1400" dirty="0" err="1"/>
              <a:t>not</a:t>
            </a:r>
            <a:r>
              <a:rPr lang="it-IT" sz="1400" dirty="0"/>
              <a:t> </a:t>
            </a:r>
            <a:r>
              <a:rPr lang="it-IT" sz="1400" dirty="0" err="1"/>
              <a:t>ice_cream_sales</a:t>
            </a:r>
            <a:r>
              <a:rPr lang="it-IT" sz="1400" dirty="0"/>
              <a:t>)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5C167A16-06A1-5E8E-AD64-6AF71D311976}"/>
              </a:ext>
            </a:extLst>
          </p:cNvPr>
          <p:cNvGrpSpPr/>
          <p:nvPr/>
        </p:nvGrpSpPr>
        <p:grpSpPr>
          <a:xfrm>
            <a:off x="1775521" y="2630387"/>
            <a:ext cx="4223023" cy="2808312"/>
            <a:chOff x="5123328" y="1412776"/>
            <a:chExt cx="4046463" cy="2621531"/>
          </a:xfrm>
        </p:grpSpPr>
        <p:pic>
          <p:nvPicPr>
            <p:cNvPr id="7170" name="Picture 2" descr="Causation vs Correlation. One of the challenges while measuring… | by Maya  Kuntal Goradia | Mediu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3328" y="1412776"/>
              <a:ext cx="4046463" cy="26215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4443AC65-E4DD-4C47-A681-24B81D6F717B}"/>
                </a:ext>
              </a:extLst>
            </p:cNvPr>
            <p:cNvSpPr txBox="1"/>
            <p:nvPr/>
          </p:nvSpPr>
          <p:spPr>
            <a:xfrm>
              <a:off x="6723797" y="1413018"/>
              <a:ext cx="504056" cy="344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X1</a:t>
              </a: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4D398D65-87B8-454B-AC15-0E9408600F4F}"/>
                </a:ext>
              </a:extLst>
            </p:cNvPr>
            <p:cNvSpPr txBox="1"/>
            <p:nvPr/>
          </p:nvSpPr>
          <p:spPr>
            <a:xfrm>
              <a:off x="6723797" y="1629198"/>
              <a:ext cx="504056" cy="344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FF0000"/>
                  </a:solidFill>
                </a:rPr>
                <a:t>Y</a:t>
              </a:r>
            </a:p>
          </p:txBody>
        </p:sp>
      </p:grp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10A524-6429-B44B-9E23-28C72568BB20}"/>
              </a:ext>
            </a:extLst>
          </p:cNvPr>
          <p:cNvSpPr txBox="1"/>
          <p:nvPr/>
        </p:nvSpPr>
        <p:spPr>
          <a:xfrm>
            <a:off x="2495600" y="28458"/>
            <a:ext cx="5564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Il famoso esempio degli squali e dei gelati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AE24BF2-F3F3-669A-3354-974D0F062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894" y="633187"/>
            <a:ext cx="8076190" cy="1304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Header image">
            <a:extLst>
              <a:ext uri="{FF2B5EF4-FFF2-40B4-BE49-F238E27FC236}">
                <a16:creationId xmlns:a16="http://schemas.microsoft.com/office/drawing/2014/main" id="{2024974F-996C-1A5F-8DAC-B40C66BB9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257" y="-25483"/>
            <a:ext cx="2224733" cy="953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A256347-43F0-DC09-FCED-53302E2561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059" y="2020921"/>
            <a:ext cx="3176118" cy="116943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D9C3534-A096-15EF-35A4-8978A9251CDE}"/>
              </a:ext>
            </a:extLst>
          </p:cNvPr>
          <p:cNvSpPr txBox="1"/>
          <p:nvPr/>
        </p:nvSpPr>
        <p:spPr>
          <a:xfrm>
            <a:off x="6528048" y="1999874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 err="1">
                <a:solidFill>
                  <a:srgbClr val="FF0000"/>
                </a:solidFill>
              </a:rPr>
              <a:t>not</a:t>
            </a:r>
            <a:r>
              <a:rPr lang="it-IT" sz="1200" i="1" dirty="0">
                <a:solidFill>
                  <a:srgbClr val="FF0000"/>
                </a:solidFill>
              </a:rPr>
              <a:t> the best </a:t>
            </a:r>
            <a:r>
              <a:rPr lang="it-IT" sz="1200" i="1" dirty="0" err="1">
                <a:solidFill>
                  <a:srgbClr val="FF0000"/>
                </a:solidFill>
              </a:rPr>
              <a:t>explanation</a:t>
            </a:r>
            <a:r>
              <a:rPr lang="it-IT" sz="1200" i="1" dirty="0">
                <a:solidFill>
                  <a:srgbClr val="FF0000"/>
                </a:solidFill>
              </a:rPr>
              <a:t>, </a:t>
            </a:r>
            <a:r>
              <a:rPr lang="it-IT" sz="1200" i="1" dirty="0" err="1">
                <a:solidFill>
                  <a:srgbClr val="FF0000"/>
                </a:solidFill>
              </a:rPr>
              <a:t>indeed</a:t>
            </a:r>
            <a:r>
              <a:rPr lang="it-IT" sz="1200" i="1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1028" name="Picture 4" descr="Quali sono le funzionalità di Microsoft Excel ed a cosa serve">
            <a:hlinkClick r:id="rId7" action="ppaction://hlinkfile"/>
            <a:extLst>
              <a:ext uri="{FF2B5EF4-FFF2-40B4-BE49-F238E27FC236}">
                <a16:creationId xmlns:a16="http://schemas.microsoft.com/office/drawing/2014/main" id="{2534603C-9EE3-B3D1-7FA3-0DEF8BE0D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6158276"/>
            <a:ext cx="670388" cy="67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F9C9FFD-89AF-EBA9-2142-4B3B0FB2E71A}"/>
              </a:ext>
            </a:extLst>
          </p:cNvPr>
          <p:cNvSpPr txBox="1"/>
          <p:nvPr/>
        </p:nvSpPr>
        <p:spPr>
          <a:xfrm>
            <a:off x="9912424" y="6567155"/>
            <a:ext cx="59838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000" b="1" dirty="0">
                <a:solidFill>
                  <a:srgbClr val="FF0000"/>
                </a:solidFill>
              </a:rPr>
              <a:t>click on </a:t>
            </a:r>
          </a:p>
        </p:txBody>
      </p:sp>
    </p:spTree>
    <p:extLst>
      <p:ext uri="{BB962C8B-B14F-4D97-AF65-F5344CB8AC3E}">
        <p14:creationId xmlns:p14="http://schemas.microsoft.com/office/powerpoint/2010/main" val="87363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F197390-BC25-15EE-3050-95C83B402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0996721" cy="618894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095A444D-3F85-F59D-CED1-28994B516ED6}"/>
              </a:ext>
            </a:extLst>
          </p:cNvPr>
          <p:cNvSpPr txBox="1"/>
          <p:nvPr/>
        </p:nvSpPr>
        <p:spPr>
          <a:xfrm>
            <a:off x="425513" y="6027003"/>
            <a:ext cx="105744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Il widget </a:t>
            </a:r>
            <a:r>
              <a:rPr lang="it-IT" sz="1200" dirty="0" err="1"/>
              <a:t>rank</a:t>
            </a:r>
            <a:r>
              <a:rPr lang="it-IT" sz="1200" dirty="0"/>
              <a:t> in certo senso estende il concetto di correlazione a tutti i tipi di variabili (non solo numeriche). Tuttavia, per come è stato da progettato da Orange, calcola gli score solo rispetto alla variabile target (e non anche tra predittori). Pertanto, a differenza della correlazione, può essere usato per selezionare i predittori più importanti da mettere nel modello ma non per individuare eventuali predittori correlati tra loro e quindi ridondanti (uno da eliminare). Tuttavia, la buona notizia è che la selezione dei predittori può essere fatta anche a valle del modello (tramite i </a:t>
            </a:r>
            <a:r>
              <a:rPr lang="it-IT" sz="1200" dirty="0" err="1"/>
              <a:t>pvalue</a:t>
            </a:r>
            <a:r>
              <a:rPr lang="it-IT" sz="1200" dirty="0"/>
              <a:t>).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83914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F6226ED-CABD-BE42-7F0F-72A43CD7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13" y="115161"/>
            <a:ext cx="10157774" cy="531474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D3F049-54CA-C593-7E5C-C94B721AAF02}"/>
              </a:ext>
            </a:extLst>
          </p:cNvPr>
          <p:cNvSpPr txBox="1"/>
          <p:nvPr/>
        </p:nvSpPr>
        <p:spPr>
          <a:xfrm>
            <a:off x="778598" y="5739897"/>
            <a:ext cx="10773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Le aziende fanno ML per «</a:t>
            </a:r>
            <a:r>
              <a:rPr lang="it-IT" sz="2000" b="1" dirty="0">
                <a:solidFill>
                  <a:srgbClr val="FF0000"/>
                </a:solidFill>
              </a:rPr>
              <a:t>capire</a:t>
            </a:r>
            <a:r>
              <a:rPr lang="it-IT" sz="2000" dirty="0"/>
              <a:t>» (tramite l’esplorazione/analisi del dataset) il dataset - le sue relazioni, cosa determina cosa, </a:t>
            </a:r>
            <a:r>
              <a:rPr lang="it-IT" sz="2000" dirty="0" err="1"/>
              <a:t>ecc</a:t>
            </a:r>
            <a:r>
              <a:rPr lang="it-IT" sz="2000" dirty="0"/>
              <a:t> – oppure per fare </a:t>
            </a:r>
            <a:r>
              <a:rPr lang="it-IT" sz="2000" b="1" dirty="0">
                <a:solidFill>
                  <a:srgbClr val="FF0000"/>
                </a:solidFill>
              </a:rPr>
              <a:t>previsioni</a:t>
            </a:r>
            <a:r>
              <a:rPr lang="it-IT" sz="2000" dirty="0"/>
              <a:t> (sul futuro)?? Entrambe.</a:t>
            </a:r>
            <a:endParaRPr lang="en-GB" sz="2000" dirty="0"/>
          </a:p>
        </p:txBody>
      </p:sp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5BBC50A6-82D5-B446-6239-27B4A48A5C83}"/>
              </a:ext>
            </a:extLst>
          </p:cNvPr>
          <p:cNvSpPr/>
          <p:nvPr/>
        </p:nvSpPr>
        <p:spPr>
          <a:xfrm>
            <a:off x="10963747" y="3684760"/>
            <a:ext cx="211140" cy="139423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6462A1D-0E9C-370C-7986-AA42666BC16F}"/>
              </a:ext>
            </a:extLst>
          </p:cNvPr>
          <p:cNvSpPr txBox="1"/>
          <p:nvPr/>
        </p:nvSpPr>
        <p:spPr>
          <a:xfrm>
            <a:off x="11289670" y="4110273"/>
            <a:ext cx="805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5436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3FF65CB-1B76-62FD-1D45-FB7CE9A5A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381" y="657571"/>
            <a:ext cx="6295238" cy="554285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895BF02-EC8E-C28A-6FA2-82D60CC4BD8D}"/>
              </a:ext>
            </a:extLst>
          </p:cNvPr>
          <p:cNvSpPr txBox="1"/>
          <p:nvPr/>
        </p:nvSpPr>
        <p:spPr>
          <a:xfrm>
            <a:off x="142875" y="171450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Nuove previsioni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957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88A87EF-A092-00EE-71CE-F13DEC234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836160"/>
            <a:ext cx="5252634" cy="557849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931821-5BA1-38EA-771A-2F30C9D2385B}"/>
              </a:ext>
            </a:extLst>
          </p:cNvPr>
          <p:cNvSpPr txBox="1"/>
          <p:nvPr/>
        </p:nvSpPr>
        <p:spPr>
          <a:xfrm>
            <a:off x="142875" y="171450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Nuove previsioni</a:t>
            </a:r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520973-8EBE-A86F-6258-19EE5E9AE8C1}"/>
              </a:ext>
            </a:extLst>
          </p:cNvPr>
          <p:cNvSpPr txBox="1"/>
          <p:nvPr/>
        </p:nvSpPr>
        <p:spPr>
          <a:xfrm>
            <a:off x="3228974" y="150257"/>
            <a:ext cx="862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1" dirty="0">
                <a:solidFill>
                  <a:srgbClr val="FF0000"/>
                </a:solidFill>
                <a:latin typeface="+mn-lt"/>
              </a:rPr>
              <a:t>nuovi_alloggi.csv</a:t>
            </a:r>
            <a:r>
              <a:rPr lang="en-GB" sz="1800" b="1" i="1" dirty="0">
                <a:solidFill>
                  <a:srgbClr val="FF0000"/>
                </a:solidFill>
              </a:rPr>
              <a:t> </a:t>
            </a:r>
            <a:r>
              <a:rPr lang="en-GB" sz="1800" dirty="0"/>
              <a:t>ha la </a:t>
            </a:r>
            <a:r>
              <a:rPr lang="en-GB" sz="1800" dirty="0" err="1"/>
              <a:t>stessa</a:t>
            </a:r>
            <a:r>
              <a:rPr lang="en-GB" sz="1800" dirty="0"/>
              <a:t> </a:t>
            </a:r>
            <a:r>
              <a:rPr lang="en-GB" sz="1800" dirty="0" err="1"/>
              <a:t>intestazione</a:t>
            </a:r>
            <a:r>
              <a:rPr lang="en-GB" sz="1800" dirty="0"/>
              <a:t> senza la </a:t>
            </a:r>
            <a:r>
              <a:rPr lang="en-GB" sz="1800" dirty="0" err="1"/>
              <a:t>colonna</a:t>
            </a:r>
            <a:r>
              <a:rPr lang="en-GB" sz="1800" dirty="0"/>
              <a:t> </a:t>
            </a:r>
            <a:r>
              <a:rPr lang="en-GB" sz="1800" dirty="0" err="1">
                <a:latin typeface="+mn-lt"/>
              </a:rPr>
              <a:t>prezzo_vendita</a:t>
            </a:r>
            <a:r>
              <a:rPr lang="en-GB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3795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9BBBBA5-A232-9DE3-3115-C9D1F58FA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0" y="-85327"/>
            <a:ext cx="6828836" cy="230387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58418BC-CFF0-266E-DA94-F2EC9DFF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16" y="1221564"/>
            <a:ext cx="5714236" cy="540271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B9F1FE8-F644-E671-9859-18809C0AE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0" y="3260604"/>
            <a:ext cx="5847746" cy="323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44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67A522C-4660-E603-0D68-4A4B032CA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23E9C2-0CAF-2101-5786-FE81EABFB8E6}"/>
              </a:ext>
            </a:extLst>
          </p:cNvPr>
          <p:cNvSpPr txBox="1"/>
          <p:nvPr/>
        </p:nvSpPr>
        <p:spPr>
          <a:xfrm>
            <a:off x="10176096" y="6545655"/>
            <a:ext cx="1892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 err="1"/>
              <a:t>Aka</a:t>
            </a:r>
            <a:r>
              <a:rPr lang="it-IT" sz="900" dirty="0"/>
              <a:t>,  allenamento, training, </a:t>
            </a:r>
            <a:r>
              <a:rPr lang="it-IT" sz="900" dirty="0" err="1"/>
              <a:t>fit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24379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0ABAB5B-2968-D9AC-4C9E-4E82BB5F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95" y="1601310"/>
            <a:ext cx="6819048" cy="343809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ED2BFDA-06D2-15E6-8E67-72D1B47E6B03}"/>
              </a:ext>
            </a:extLst>
          </p:cNvPr>
          <p:cNvSpPr txBox="1"/>
          <p:nvPr/>
        </p:nvSpPr>
        <p:spPr>
          <a:xfrm>
            <a:off x="172016" y="217283"/>
            <a:ext cx="349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Output del widget </a:t>
            </a:r>
            <a:r>
              <a:rPr lang="it-IT" i="1" dirty="0"/>
              <a:t>test and score</a:t>
            </a:r>
            <a:endParaRPr lang="en-GB" i="1" dirty="0"/>
          </a:p>
        </p:txBody>
      </p:sp>
      <p:sp>
        <p:nvSpPr>
          <p:cNvPr id="5" name="Fumetto: rettangolo con angoli arrotondati 4">
            <a:extLst>
              <a:ext uri="{FF2B5EF4-FFF2-40B4-BE49-F238E27FC236}">
                <a16:creationId xmlns:a16="http://schemas.microsoft.com/office/drawing/2014/main" id="{B92F729B-4953-5632-510B-9838E8BEC46F}"/>
              </a:ext>
            </a:extLst>
          </p:cNvPr>
          <p:cNvSpPr/>
          <p:nvPr/>
        </p:nvSpPr>
        <p:spPr>
          <a:xfrm>
            <a:off x="8356349" y="623535"/>
            <a:ext cx="1846907" cy="977775"/>
          </a:xfrm>
          <a:prstGeom prst="wedgeRoundRectCallout">
            <a:avLst>
              <a:gd name="adj1" fmla="val -27696"/>
              <a:gd name="adj2" fmla="val 83796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La bontà di </a:t>
            </a:r>
            <a:r>
              <a:rPr lang="it-IT" sz="1400" dirty="0" err="1"/>
              <a:t>fit</a:t>
            </a:r>
            <a:r>
              <a:rPr lang="it-IT" sz="1400" dirty="0"/>
              <a:t> (</a:t>
            </a:r>
            <a:r>
              <a:rPr lang="it-IT" sz="1400" dirty="0" err="1"/>
              <a:t>adattamentto</a:t>
            </a:r>
            <a:r>
              <a:rPr lang="it-IT" sz="1400" dirty="0"/>
              <a:t>) del modello ai dati di training (da 0 a 1)</a:t>
            </a:r>
            <a:endParaRPr lang="en-GB" sz="1400" dirty="0"/>
          </a:p>
        </p:txBody>
      </p:sp>
      <p:sp>
        <p:nvSpPr>
          <p:cNvPr id="7" name="Fumetto: rettangolo con angoli arrotondati 6">
            <a:extLst>
              <a:ext uri="{FF2B5EF4-FFF2-40B4-BE49-F238E27FC236}">
                <a16:creationId xmlns:a16="http://schemas.microsoft.com/office/drawing/2014/main" id="{1ECD4169-4998-6B63-5B21-D5CE82A817CE}"/>
              </a:ext>
            </a:extLst>
          </p:cNvPr>
          <p:cNvSpPr/>
          <p:nvPr/>
        </p:nvSpPr>
        <p:spPr>
          <a:xfrm>
            <a:off x="6165411" y="688063"/>
            <a:ext cx="1963094" cy="876327"/>
          </a:xfrm>
          <a:prstGeom prst="wedgeRoundRectCallout">
            <a:avLst>
              <a:gd name="adj1" fmla="val -14376"/>
              <a:gd name="adj2" fmla="val 88036"/>
              <a:gd name="adj3" fmla="val 16667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L’errore di previsione medio sui dati di test (nella unità di misura della risposta)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834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BD879FA-4AAD-2D06-5F84-1F028653D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3" y="1051072"/>
            <a:ext cx="5743575" cy="39909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767153-3ADD-21EB-A122-3B071FAD4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1072"/>
            <a:ext cx="6016717" cy="303491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9859D5C-8E0C-7C28-6824-50BE3091D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3" y="90524"/>
            <a:ext cx="2638095" cy="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63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3B71-5251-FDFD-078C-B5B18E31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8F1EA43-BCA2-F53E-E186-2B859F84B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375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22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8C36D51-EA32-61EC-F840-EBCE51D5C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53" y="100045"/>
            <a:ext cx="4657143" cy="52381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70A3545-82BB-4E32-BCE6-5F99E4FBC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1145"/>
            <a:ext cx="6005048" cy="420584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895E6137-22BF-EC2E-8B28-F8BBB5E47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106" y="961145"/>
            <a:ext cx="6181894" cy="255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77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513D109-4830-7226-73DD-D1036FD4E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2" y="1485406"/>
            <a:ext cx="5536085" cy="388718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F880780-7E7C-9BC9-EC50-9EB9ACEC8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32" y="97236"/>
            <a:ext cx="3838071" cy="246282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5C33EC4-2F4D-12EB-5C9D-AE0A3FCE7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227" y="2689935"/>
            <a:ext cx="6096573" cy="4168065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63A533D2-9C08-5F59-EF0D-3EE055408943}"/>
              </a:ext>
            </a:extLst>
          </p:cNvPr>
          <p:cNvGrpSpPr/>
          <p:nvPr/>
        </p:nvGrpSpPr>
        <p:grpSpPr>
          <a:xfrm>
            <a:off x="0" y="97236"/>
            <a:ext cx="5190659" cy="949187"/>
            <a:chOff x="0" y="97236"/>
            <a:chExt cx="5190659" cy="949187"/>
          </a:xfrm>
        </p:grpSpPr>
        <p:pic>
          <p:nvPicPr>
            <p:cNvPr id="3" name="Immagine 2">
              <a:extLst>
                <a:ext uri="{FF2B5EF4-FFF2-40B4-BE49-F238E27FC236}">
                  <a16:creationId xmlns:a16="http://schemas.microsoft.com/office/drawing/2014/main" id="{9D12B9A6-E266-01D0-0047-A5A3B8011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97236"/>
              <a:ext cx="5190659" cy="949187"/>
            </a:xfrm>
            <a:prstGeom prst="rect">
              <a:avLst/>
            </a:prstGeom>
          </p:spPr>
        </p:pic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F9BC40C1-D104-A43C-CFE2-A33D132DA5A9}"/>
                </a:ext>
              </a:extLst>
            </p:cNvPr>
            <p:cNvCxnSpPr/>
            <p:nvPr/>
          </p:nvCxnSpPr>
          <p:spPr>
            <a:xfrm>
              <a:off x="2924175" y="752475"/>
              <a:ext cx="82867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4682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DFD77-A24E-4B9D-1BD4-15B0A37D9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275" y="1074399"/>
            <a:ext cx="8691149" cy="457692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D8166AE-99AA-EFFC-500D-B0FB98DF2458}"/>
              </a:ext>
            </a:extLst>
          </p:cNvPr>
          <p:cNvSpPr txBox="1"/>
          <p:nvPr/>
        </p:nvSpPr>
        <p:spPr>
          <a:xfrm>
            <a:off x="190500" y="142875"/>
            <a:ext cx="292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Relazione parabolica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3146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D37C95D-9AEE-3B2C-97E2-4EAF30804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106150" cy="62472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2C2B198E-60FF-70CB-C93F-592926EBA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086518"/>
            <a:ext cx="6019048" cy="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F756755-5574-C7AA-B150-EA1471AB093D}"/>
              </a:ext>
            </a:extLst>
          </p:cNvPr>
          <p:cNvSpPr txBox="1"/>
          <p:nvPr/>
        </p:nvSpPr>
        <p:spPr>
          <a:xfrm>
            <a:off x="4989133" y="224282"/>
            <a:ext cx="5923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Marker Felt" panose="00000400000000000000" pitchFamily="2" charset="0"/>
              </a:rPr>
              <a:t>Segnale vs rumore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0C4B13FD-A14C-B4B6-EED2-67C59AEC1E38}"/>
                  </a:ext>
                </a:extLst>
              </p:cNvPr>
              <p:cNvSpPr txBox="1"/>
              <p:nvPr/>
            </p:nvSpPr>
            <p:spPr>
              <a:xfrm>
                <a:off x="4697835" y="2327944"/>
                <a:ext cx="1906869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bot"/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0C4B13FD-A14C-B4B6-EED2-67C59AEC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835" y="2327944"/>
                <a:ext cx="1906869" cy="416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4897EB1-71FC-FAEC-71D2-19ED4BE556C2}"/>
                  </a:ext>
                </a:extLst>
              </p:cNvPr>
              <p:cNvSpPr txBox="1"/>
              <p:nvPr/>
            </p:nvSpPr>
            <p:spPr>
              <a:xfrm>
                <a:off x="4989133" y="3522581"/>
                <a:ext cx="1433277" cy="413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sSup>
                        <m:s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bar>
                            <m:barPr>
                              <m:pos m:val="bot"/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</m:e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4897EB1-71FC-FAEC-71D2-19ED4BE55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133" y="3522581"/>
                <a:ext cx="1433277" cy="4136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CB937577-7F90-D972-0E56-5FF94A49BD75}"/>
              </a:ext>
            </a:extLst>
          </p:cNvPr>
          <p:cNvCxnSpPr/>
          <p:nvPr/>
        </p:nvCxnSpPr>
        <p:spPr>
          <a:xfrm>
            <a:off x="5651269" y="2885813"/>
            <a:ext cx="0" cy="46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metto: rettangolo con angoli arrotondati 6">
            <a:extLst>
              <a:ext uri="{FF2B5EF4-FFF2-40B4-BE49-F238E27FC236}">
                <a16:creationId xmlns:a16="http://schemas.microsoft.com/office/drawing/2014/main" id="{CF58CD33-4C97-C895-BCF0-299464C0D541}"/>
              </a:ext>
            </a:extLst>
          </p:cNvPr>
          <p:cNvSpPr/>
          <p:nvPr/>
        </p:nvSpPr>
        <p:spPr>
          <a:xfrm>
            <a:off x="137853" y="157136"/>
            <a:ext cx="3962510" cy="3231473"/>
          </a:xfrm>
          <a:prstGeom prst="wedgeRoundRectCallout">
            <a:avLst>
              <a:gd name="adj1" fmla="val 63032"/>
              <a:gd name="adj2" fmla="val 22558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+mj-lt"/>
              </a:rPr>
              <a:t>In questo fenomeno, ovvero nel </a:t>
            </a:r>
            <a:r>
              <a:rPr lang="it-IT" b="1" dirty="0">
                <a:solidFill>
                  <a:schemeClr val="tx1"/>
                </a:solidFill>
                <a:latin typeface="+mj-lt"/>
              </a:rPr>
              <a:t>processo generativo dei dati </a:t>
            </a:r>
            <a:r>
              <a:rPr lang="it-IT" dirty="0">
                <a:solidFill>
                  <a:schemeClr val="tx1"/>
                </a:solidFill>
                <a:latin typeface="+mj-lt"/>
              </a:rPr>
              <a:t>che è ad esso sotteso, e che in genere NON conosciamo, è predominante la parte sistematica (il segnale) o la parte casuale (il rumore)?</a:t>
            </a:r>
          </a:p>
          <a:p>
            <a:r>
              <a:rPr lang="it-IT" dirty="0">
                <a:solidFill>
                  <a:schemeClr val="tx1"/>
                </a:solidFill>
                <a:latin typeface="+mj-lt"/>
              </a:rPr>
              <a:t>Tipi di «segnali»: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  <a:latin typeface="+mj-lt"/>
              </a:rPr>
              <a:t>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  <a:latin typeface="+mj-lt"/>
              </a:rPr>
              <a:t>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  <a:latin typeface="+mj-lt"/>
              </a:rPr>
              <a:t>Correlazioni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  <a:latin typeface="+mj-lt"/>
              </a:rPr>
              <a:t>Associazioni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tx1"/>
                </a:solidFill>
                <a:latin typeface="+mj-lt"/>
              </a:rPr>
              <a:t>ecc</a:t>
            </a:r>
            <a:endParaRPr lang="it-IT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Fumetto: rettangolo con angoli arrotondati 7">
                <a:extLst>
                  <a:ext uri="{FF2B5EF4-FFF2-40B4-BE49-F238E27FC236}">
                    <a16:creationId xmlns:a16="http://schemas.microsoft.com/office/drawing/2014/main" id="{024F7B5A-5A84-03DA-6126-49B3A08DD587}"/>
                  </a:ext>
                </a:extLst>
              </p:cNvPr>
              <p:cNvSpPr/>
              <p:nvPr/>
            </p:nvSpPr>
            <p:spPr>
              <a:xfrm>
                <a:off x="2695790" y="4402589"/>
                <a:ext cx="3495614" cy="1845578"/>
              </a:xfrm>
              <a:prstGeom prst="wedgeRoundRectCallout">
                <a:avLst>
                  <a:gd name="adj1" fmla="val 34125"/>
                  <a:gd name="adj2" fmla="val -70682"/>
                  <a:gd name="adj3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 dirty="0">
                    <a:solidFill>
                      <a:schemeClr val="tx1"/>
                    </a:solidFill>
                    <a:latin typeface="+mj-lt"/>
                  </a:rPr>
                  <a:t>Fittare</a:t>
                </a:r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 («adattare») un modello (predittivo, in questo caso) ai dati significa stimare dai dati la funzione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 (il modello).</a:t>
                </a:r>
              </a:p>
            </p:txBody>
          </p:sp>
        </mc:Choice>
        <mc:Fallback xmlns="">
          <p:sp>
            <p:nvSpPr>
              <p:cNvPr id="8" name="Fumetto: rettangolo con angoli arrotondati 7">
                <a:extLst>
                  <a:ext uri="{FF2B5EF4-FFF2-40B4-BE49-F238E27FC236}">
                    <a16:creationId xmlns:a16="http://schemas.microsoft.com/office/drawing/2014/main" id="{024F7B5A-5A84-03DA-6126-49B3A08DD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790" y="4402589"/>
                <a:ext cx="3495614" cy="1845578"/>
              </a:xfrm>
              <a:prstGeom prst="wedgeRoundRectCallout">
                <a:avLst>
                  <a:gd name="adj1" fmla="val 34125"/>
                  <a:gd name="adj2" fmla="val -70682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llaDiTesto 4">
            <a:extLst>
              <a:ext uri="{FF2B5EF4-FFF2-40B4-BE49-F238E27FC236}">
                <a16:creationId xmlns:a16="http://schemas.microsoft.com/office/drawing/2014/main" id="{0C5580F8-76ED-93C3-8C53-AF5B3F5D91DA}"/>
              </a:ext>
            </a:extLst>
          </p:cNvPr>
          <p:cNvSpPr txBox="1"/>
          <p:nvPr/>
        </p:nvSpPr>
        <p:spPr>
          <a:xfrm>
            <a:off x="6604705" y="4146373"/>
            <a:ext cx="52991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X-bar = vettore delle vere variabili esplicative del fenomeno </a:t>
            </a:r>
          </a:p>
          <a:p>
            <a:r>
              <a:rPr lang="it-IT" dirty="0"/>
              <a:t>X-bar* = vettore delle variabili esplicative disponibili (eliminarne parti per evitare </a:t>
            </a:r>
            <a:r>
              <a:rPr lang="it-IT" dirty="0" err="1"/>
              <a:t>overfitting</a:t>
            </a:r>
            <a:r>
              <a:rPr lang="it-IT" dirty="0"/>
              <a:t>, cioè modelli troppo complessi, oppure aggiungerne, se si hanno le conoscenze di business).</a:t>
            </a:r>
          </a:p>
          <a:p>
            <a:r>
              <a:rPr lang="it-IT" dirty="0"/>
              <a:t>Abbiamo a disposizione un campione di training che riporta le vere Y e il vettore X-bar campionato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umetto: rettangolo con angoli arrotondati 8">
                <a:extLst>
                  <a:ext uri="{FF2B5EF4-FFF2-40B4-BE49-F238E27FC236}">
                    <a16:creationId xmlns:a16="http://schemas.microsoft.com/office/drawing/2014/main" id="{50E54998-1C17-0653-C21B-6838DD07443A}"/>
                  </a:ext>
                </a:extLst>
              </p:cNvPr>
              <p:cNvSpPr/>
              <p:nvPr/>
            </p:nvSpPr>
            <p:spPr>
              <a:xfrm>
                <a:off x="7596356" y="953934"/>
                <a:ext cx="3821055" cy="2069983"/>
              </a:xfrm>
              <a:prstGeom prst="wedgeRoundRectCallout">
                <a:avLst>
                  <a:gd name="adj1" fmla="val -76130"/>
                  <a:gd name="adj2" fmla="val 28399"/>
                  <a:gd name="adj3" fmla="val 166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Il rumore è un catch-</a:t>
                </a:r>
                <a:r>
                  <a:rPr lang="it-IT" dirty="0" err="1">
                    <a:solidFill>
                      <a:schemeClr val="tx1"/>
                    </a:solidFill>
                    <a:latin typeface="+mj-lt"/>
                  </a:rPr>
                  <a:t>all</a:t>
                </a:r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, che include 2 componenti principali: </a:t>
                </a:r>
                <a:r>
                  <a:rPr lang="it-IT" b="1" dirty="0" err="1">
                    <a:solidFill>
                      <a:schemeClr val="tx1"/>
                    </a:solidFill>
                    <a:latin typeface="+mj-lt"/>
                  </a:rPr>
                  <a:t>lack</a:t>
                </a:r>
                <a:r>
                  <a:rPr lang="it-IT" b="1" dirty="0">
                    <a:solidFill>
                      <a:schemeClr val="tx1"/>
                    </a:solidFill>
                    <a:latin typeface="+mj-lt"/>
                  </a:rPr>
                  <a:t>-of-</a:t>
                </a:r>
                <a:r>
                  <a:rPr lang="it-IT" b="1" dirty="0" err="1">
                    <a:solidFill>
                      <a:schemeClr val="tx1"/>
                    </a:solidFill>
                    <a:latin typeface="+mj-lt"/>
                  </a:rPr>
                  <a:t>fit</a:t>
                </a:r>
                <a:r>
                  <a:rPr lang="it-IT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ed </a:t>
                </a:r>
                <a:r>
                  <a:rPr lang="it-IT" b="1" dirty="0">
                    <a:solidFill>
                      <a:schemeClr val="tx1"/>
                    </a:solidFill>
                    <a:latin typeface="+mj-lt"/>
                  </a:rPr>
                  <a:t>errore puro</a:t>
                </a:r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. I residui sono la miglior stima del rumore; per distinguere tra </a:t>
                </a:r>
                <a:r>
                  <a:rPr lang="it-IT" dirty="0" err="1">
                    <a:solidFill>
                      <a:schemeClr val="tx1"/>
                    </a:solidFill>
                    <a:latin typeface="+mj-lt"/>
                  </a:rPr>
                  <a:t>lack</a:t>
                </a:r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-of </a:t>
                </a:r>
                <a:r>
                  <a:rPr lang="it-IT" dirty="0" err="1">
                    <a:solidFill>
                      <a:schemeClr val="tx1"/>
                    </a:solidFill>
                    <a:latin typeface="+mj-lt"/>
                  </a:rPr>
                  <a:t>fit</a:t>
                </a:r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 ed errore puro occorrono delle repliche nel campione dati (cioè stesso </a:t>
                </a:r>
                <a14:m>
                  <m:oMath xmlns:m="http://schemas.openxmlformats.org/officeDocument/2006/math">
                    <m:bar>
                      <m:barPr>
                        <m:pos m:val="bot"/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</m:oMath>
                </a14:m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, varie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9" name="Fumetto: rettangolo con angoli arrotondati 8">
                <a:extLst>
                  <a:ext uri="{FF2B5EF4-FFF2-40B4-BE49-F238E27FC236}">
                    <a16:creationId xmlns:a16="http://schemas.microsoft.com/office/drawing/2014/main" id="{50E54998-1C17-0653-C21B-6838DD074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6356" y="953934"/>
                <a:ext cx="3821055" cy="2069983"/>
              </a:xfrm>
              <a:prstGeom prst="wedgeRoundRectCallout">
                <a:avLst>
                  <a:gd name="adj1" fmla="val -76130"/>
                  <a:gd name="adj2" fmla="val 28399"/>
                  <a:gd name="adj3" fmla="val 16667"/>
                </a:avLst>
              </a:prstGeom>
              <a:blipFill>
                <a:blip r:embed="rId5"/>
                <a:stretch>
                  <a:fillRect t="-294" b="-32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411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EB6DD6-50A8-053C-9B33-EE19E85B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1" y="0"/>
            <a:ext cx="6325170" cy="40081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D6763EC-B080-DCDE-E4B6-3963D2D06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2778813"/>
            <a:ext cx="6419850" cy="40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16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3810505-1782-2BD1-4B97-EEEC63593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095" y="1962333"/>
            <a:ext cx="6323809" cy="2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055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9D9AF88-7171-3029-5E39-D6D830914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4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26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y take on: Why do we need to standardize the data? | by Joel Varma Dirisam 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260648"/>
            <a:ext cx="4352485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rmalization Formula | Step By Step Guide with Calculation Examp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694" y="3050649"/>
            <a:ext cx="4347070" cy="195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ccia a destra 1"/>
          <p:cNvSpPr/>
          <p:nvPr/>
        </p:nvSpPr>
        <p:spPr>
          <a:xfrm>
            <a:off x="6456040" y="1270164"/>
            <a:ext cx="648072" cy="36004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7320136" y="594554"/>
            <a:ext cx="2520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Ridurre la variabilità ad una scala comune, in modo da confrontare / elaborare variabili con differente variabilità. Molto frequente.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7201548" y="3050648"/>
            <a:ext cx="2016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Frequente, di vari tipi, da non confondere con la standardizzazione.</a:t>
            </a:r>
          </a:p>
        </p:txBody>
      </p:sp>
      <p:sp>
        <p:nvSpPr>
          <p:cNvPr id="8" name="Freccia a destra 7"/>
          <p:cNvSpPr/>
          <p:nvPr/>
        </p:nvSpPr>
        <p:spPr>
          <a:xfrm>
            <a:off x="6424092" y="3381092"/>
            <a:ext cx="648072" cy="36004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30" name="Picture 6" descr="Data mining normalization | Galaktikasof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816" y="4464198"/>
            <a:ext cx="3542680" cy="227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ccia a destra 9"/>
          <p:cNvSpPr/>
          <p:nvPr/>
        </p:nvSpPr>
        <p:spPr>
          <a:xfrm rot="10800000">
            <a:off x="6527755" y="6004874"/>
            <a:ext cx="648072" cy="36004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/>
          <p:cNvSpPr txBox="1"/>
          <p:nvPr/>
        </p:nvSpPr>
        <p:spPr>
          <a:xfrm>
            <a:off x="4727848" y="5798962"/>
            <a:ext cx="1908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E’ DB Design, è un’altra cosa, non si usa nel ML.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DD3453A-7B82-492D-B6B8-A616E11F3678}"/>
              </a:ext>
            </a:extLst>
          </p:cNvPr>
          <p:cNvSpPr txBox="1"/>
          <p:nvPr/>
        </p:nvSpPr>
        <p:spPr>
          <a:xfrm>
            <a:off x="3025113" y="4987822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vedi anche </a:t>
            </a:r>
            <a:r>
              <a:rPr lang="it-IT" sz="1200" dirty="0" err="1"/>
              <a:t>DMfBA</a:t>
            </a:r>
            <a:r>
              <a:rPr lang="it-IT" sz="1200" dirty="0"/>
              <a:t>, </a:t>
            </a:r>
            <a:r>
              <a:rPr lang="it-IT" sz="1200" dirty="0" err="1"/>
              <a:t>ch</a:t>
            </a:r>
            <a:r>
              <a:rPr lang="it-IT" sz="1200" dirty="0"/>
              <a:t>. 11.3</a:t>
            </a:r>
          </a:p>
        </p:txBody>
      </p:sp>
    </p:spTree>
    <p:extLst>
      <p:ext uri="{BB962C8B-B14F-4D97-AF65-F5344CB8AC3E}">
        <p14:creationId xmlns:p14="http://schemas.microsoft.com/office/powerpoint/2010/main" val="2760821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1122</Words>
  <Application>Microsoft Office PowerPoint</Application>
  <PresentationFormat>Widescreen</PresentationFormat>
  <Paragraphs>94</Paragraphs>
  <Slides>31</Slides>
  <Notes>0</Notes>
  <HiddenSlides>3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Marker Felt</vt:lpstr>
      <vt:lpstr>Segoe Script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8</cp:revision>
  <dcterms:created xsi:type="dcterms:W3CDTF">2026-09-03T06:44:23Z</dcterms:created>
  <dcterms:modified xsi:type="dcterms:W3CDTF">2026-09-08T07:25:25Z</dcterms:modified>
</cp:coreProperties>
</file>