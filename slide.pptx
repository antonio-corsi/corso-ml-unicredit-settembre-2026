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67" r:id="rId2"/>
    <p:sldId id="1810" r:id="rId3"/>
    <p:sldId id="1710" r:id="rId4"/>
    <p:sldId id="1811" r:id="rId5"/>
    <p:sldId id="865" r:id="rId6"/>
    <p:sldId id="877" r:id="rId7"/>
    <p:sldId id="1813" r:id="rId8"/>
    <p:sldId id="1814" r:id="rId9"/>
    <p:sldId id="1815" r:id="rId10"/>
    <p:sldId id="1816" r:id="rId11"/>
    <p:sldId id="1819" r:id="rId12"/>
    <p:sldId id="1817" r:id="rId13"/>
    <p:sldId id="1818" r:id="rId14"/>
    <p:sldId id="1821" r:id="rId15"/>
    <p:sldId id="1820" r:id="rId16"/>
    <p:sldId id="1822" r:id="rId17"/>
    <p:sldId id="1823" r:id="rId18"/>
    <p:sldId id="1825" r:id="rId19"/>
    <p:sldId id="1824" r:id="rId20"/>
    <p:sldId id="1826" r:id="rId21"/>
    <p:sldId id="181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662D97-6995-FA28-1113-C9C25ECA4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962189B-BA05-3B04-BB84-7C86906AA7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B6F4BEC-3985-A6CB-9680-4D4BC7984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E88057-92A2-BBB1-7950-AE6298733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227A60-B8A1-2523-6A34-5128D3646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4798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2B088F-51D0-6B84-5DDC-944906A53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0F999DE-B84B-5DC7-64BF-2C45EE5C3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32BBF3-7C52-E800-0F82-CE2A41F67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66FF537-29C6-A87A-3174-3EF3921E1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CD9CB6-519F-E8B8-E855-EFC2B3976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382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FE693A-94A0-4CE6-52AF-1AF1D29EA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6797F0D-6340-5D57-4942-8FCAE220D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E60416-ABCC-34A4-3F20-A096FF0FA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ADC4154-0D58-71F6-EA9D-A441F179A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EF5703-6706-5047-D745-A629889D7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63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B83B68-445E-C61D-1F8C-FA005A7BB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B6ABC6-372A-C11D-FD27-FC9EE85CD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8A0A776-7108-21AD-3719-98397EBA3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697D36-2B74-B862-135E-4054535C8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79A9453-50DA-4AD5-D0A6-F5E77BFA7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A194732-B0EA-0988-86B5-489483D2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77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40AAB5-77AF-0E37-12A9-4D265DA2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8CE5951-A29E-82BE-1693-E299BE42A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68A00C5-9215-0F2B-6947-C53F4B6CE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79BED3-C8C6-615B-F484-7F6ACF932F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1C23CD2-6D2E-B549-C8F0-788C26B6C4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C697E19-ECBD-59E1-F2B8-25B10B340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1F3099C-A08D-E491-3782-906B37A1E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E3DD094-65DD-681D-FB8C-26B022BC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4875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9FF9EE-B25C-DED4-81D9-C10D9286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2FD1D38-DE0F-A734-9DDF-8F215F1EB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688DEF8-6DD3-2540-AD76-8598015E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330109D-3FD3-E99B-872D-5F161BC20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632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22078DE-743E-BA67-FDC5-5FC089759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C2EBC66-3065-FB70-2BAC-B02BB87D4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E7AB660-23BE-1201-45A6-214D82FF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6342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3418FF-2FA6-6E44-ED9D-070F651B9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76B841-3A48-C348-B9BA-85B1A0131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ED37ED8-5277-4A89-139C-148350F259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C8A539A-1C84-80DA-808C-5E265ACE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F2FC9F-78E1-AEA0-8E0D-E9F6506BB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5624EC-1FBE-0DBA-6C5E-4E017869C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49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51B1DA-F037-C8C6-2BDE-31A618513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CB3A185-1F40-C98E-7BFB-EB009B758C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A1970C7-EEFF-8B5D-9011-E10DB8608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4B79267-EEC5-7A82-2525-8CD96C198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603F066-B2CD-3947-E572-190B23B68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B889330-32AE-11CE-F4FA-22DB9A410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307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D53541-6AE6-D490-D0B7-4DBE0331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A031EA3-B165-9E5E-24C6-A0DCDAAFF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9DF4B94-2E91-FB36-EBE1-2026ADF87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B406A7-5A12-A973-0454-E562BA79E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BD4399-BCD4-9EE0-2E84-7ABAB8E6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6178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616E1D3-D9B6-4A33-628B-D36EC9315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C791553-B848-1DC0-BE6C-E25E22A57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B58731B-C8AC-373F-9970-AE6B18B47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8030AE3-F527-791B-0354-A8CC4ED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3C39259-6959-DD72-D5FB-0935D4B2C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39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CD96FB3-337E-D3FD-B54C-5CB4A9F80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76C64BC-FBF8-18BE-DF22-87E743365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9164BB-D1E2-97F0-5255-C29D13C3FB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46E53-0C58-47EF-9349-E5461D01861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2936238-5B0C-8157-4121-B2F4D2080D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354858-D2FA-1644-0131-75CCDC3E7A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339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feed/update/urn:li:activity:7211732058509824000?utm_source=share&amp;utm_medium=member_desktop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6093C954-4323-4D3B-952B-50854C59A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617" y="67524"/>
            <a:ext cx="5828571" cy="6790476"/>
          </a:xfrm>
          <a:prstGeom prst="rect">
            <a:avLst/>
          </a:prstGeom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71739FFC-9D5F-F92D-1FA5-492D23C81D50}"/>
              </a:ext>
            </a:extLst>
          </p:cNvPr>
          <p:cNvGrpSpPr/>
          <p:nvPr/>
        </p:nvGrpSpPr>
        <p:grpSpPr>
          <a:xfrm>
            <a:off x="2990773" y="5981312"/>
            <a:ext cx="562062" cy="562061"/>
            <a:chOff x="8263156" y="4831788"/>
            <a:chExt cx="713064" cy="679779"/>
          </a:xfrm>
        </p:grpSpPr>
        <p:sp>
          <p:nvSpPr>
            <p:cNvPr id="5" name="Ovale 4">
              <a:extLst>
                <a:ext uri="{FF2B5EF4-FFF2-40B4-BE49-F238E27FC236}">
                  <a16:creationId xmlns:a16="http://schemas.microsoft.com/office/drawing/2014/main" id="{F6FD6750-ED2F-FD7F-B3C2-BFB23B8227D3}"/>
                </a:ext>
              </a:extLst>
            </p:cNvPr>
            <p:cNvSpPr/>
            <p:nvPr/>
          </p:nvSpPr>
          <p:spPr>
            <a:xfrm>
              <a:off x="8263156" y="4831788"/>
              <a:ext cx="713064" cy="679779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Triangolo isoscele 5">
              <a:hlinkClick r:id="rId3"/>
              <a:extLst>
                <a:ext uri="{FF2B5EF4-FFF2-40B4-BE49-F238E27FC236}">
                  <a16:creationId xmlns:a16="http://schemas.microsoft.com/office/drawing/2014/main" id="{BA4A9FA8-243C-7011-2FAE-8FE8A7E28F63}"/>
                </a:ext>
              </a:extLst>
            </p:cNvPr>
            <p:cNvSpPr/>
            <p:nvPr/>
          </p:nvSpPr>
          <p:spPr>
            <a:xfrm rot="5400000">
              <a:off x="8507072" y="4984844"/>
              <a:ext cx="378364" cy="376628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580E27F-9ADF-1CF6-5CBE-02626D5FBD91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giugno 2024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C53634-84B9-C7FD-F86A-69DA71A14F64}"/>
              </a:ext>
            </a:extLst>
          </p:cNvPr>
          <p:cNvSpPr txBox="1"/>
          <p:nvPr/>
        </p:nvSpPr>
        <p:spPr>
          <a:xfrm>
            <a:off x="9004662" y="5611980"/>
            <a:ext cx="16744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Generare contenuto NUOVO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D5EB9D0-0668-5999-8636-F8DF96943558}"/>
              </a:ext>
            </a:extLst>
          </p:cNvPr>
          <p:cNvSpPr txBox="1"/>
          <p:nvPr/>
        </p:nvSpPr>
        <p:spPr>
          <a:xfrm>
            <a:off x="3048990" y="3045422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 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34EF222E-A441-55B9-29F9-09338AF7F2A7}"/>
              </a:ext>
            </a:extLst>
          </p:cNvPr>
          <p:cNvSpPr/>
          <p:nvPr/>
        </p:nvSpPr>
        <p:spPr>
          <a:xfrm>
            <a:off x="5248497" y="2482265"/>
            <a:ext cx="684810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tabellari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B3EC1475-93B9-5AFF-7F4E-76DC40238211}"/>
              </a:ext>
            </a:extLst>
          </p:cNvPr>
          <p:cNvSpPr/>
          <p:nvPr/>
        </p:nvSpPr>
        <p:spPr>
          <a:xfrm>
            <a:off x="5248497" y="3580877"/>
            <a:ext cx="684810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tabellari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284F490-7B71-50DE-C239-66C5A77944E9}"/>
              </a:ext>
            </a:extLst>
          </p:cNvPr>
          <p:cNvSpPr/>
          <p:nvPr/>
        </p:nvSpPr>
        <p:spPr>
          <a:xfrm>
            <a:off x="5248496" y="4527037"/>
            <a:ext cx="847503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non-strutturati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25354DD-4B6F-267B-2B47-5136F2A7F9EA}"/>
              </a:ext>
            </a:extLst>
          </p:cNvPr>
          <p:cNvSpPr/>
          <p:nvPr/>
        </p:nvSpPr>
        <p:spPr>
          <a:xfrm>
            <a:off x="5419105" y="6034046"/>
            <a:ext cx="1353787" cy="7564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/>
              <a:t>Genera NUOVI contenuti</a:t>
            </a:r>
          </a:p>
        </p:txBody>
      </p:sp>
      <p:sp>
        <p:nvSpPr>
          <p:cNvPr id="14" name="Fumetto: rettangolo con angoli arrotondati 13">
            <a:extLst>
              <a:ext uri="{FF2B5EF4-FFF2-40B4-BE49-F238E27FC236}">
                <a16:creationId xmlns:a16="http://schemas.microsoft.com/office/drawing/2014/main" id="{3FB6F876-B0A2-2431-EDC3-42D146483053}"/>
              </a:ext>
            </a:extLst>
          </p:cNvPr>
          <p:cNvSpPr/>
          <p:nvPr/>
        </p:nvSpPr>
        <p:spPr>
          <a:xfrm>
            <a:off x="8906492" y="2291938"/>
            <a:ext cx="3285507" cy="1288939"/>
          </a:xfrm>
          <a:prstGeom prst="wedgeRoundRectCallout">
            <a:avLst>
              <a:gd name="adj1" fmla="val -115364"/>
              <a:gd name="adj2" fmla="val -3835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Decidere operative</a:t>
            </a:r>
          </a:p>
        </p:txBody>
      </p:sp>
      <p:sp>
        <p:nvSpPr>
          <p:cNvPr id="15" name="Fumetto: rettangolo con angoli arrotondati 14">
            <a:extLst>
              <a:ext uri="{FF2B5EF4-FFF2-40B4-BE49-F238E27FC236}">
                <a16:creationId xmlns:a16="http://schemas.microsoft.com/office/drawing/2014/main" id="{2C28AC19-E718-8ECC-6A2A-505D71D8CAD9}"/>
              </a:ext>
            </a:extLst>
          </p:cNvPr>
          <p:cNvSpPr/>
          <p:nvPr/>
        </p:nvSpPr>
        <p:spPr>
          <a:xfrm>
            <a:off x="8906491" y="2291937"/>
            <a:ext cx="3285507" cy="1288939"/>
          </a:xfrm>
          <a:prstGeom prst="wedgeRoundRectCallout">
            <a:avLst>
              <a:gd name="adj1" fmla="val -116087"/>
              <a:gd name="adj2" fmla="val 77242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Decidere operative</a:t>
            </a:r>
          </a:p>
        </p:txBody>
      </p:sp>
      <p:sp>
        <p:nvSpPr>
          <p:cNvPr id="16" name="Fumetto: rettangolo con angoli arrotondati 15">
            <a:extLst>
              <a:ext uri="{FF2B5EF4-FFF2-40B4-BE49-F238E27FC236}">
                <a16:creationId xmlns:a16="http://schemas.microsoft.com/office/drawing/2014/main" id="{B8EA0B50-7281-6EE2-3922-B2B36FCF700C}"/>
              </a:ext>
            </a:extLst>
          </p:cNvPr>
          <p:cNvSpPr/>
          <p:nvPr/>
        </p:nvSpPr>
        <p:spPr>
          <a:xfrm>
            <a:off x="8906493" y="2291937"/>
            <a:ext cx="3285507" cy="1288939"/>
          </a:xfrm>
          <a:prstGeom prst="wedgeRoundRectCallout">
            <a:avLst>
              <a:gd name="adj1" fmla="val -131268"/>
              <a:gd name="adj2" fmla="val 134364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Decisioni operative</a:t>
            </a:r>
          </a:p>
        </p:txBody>
      </p:sp>
    </p:spTree>
    <p:extLst>
      <p:ext uri="{BB962C8B-B14F-4D97-AF65-F5344CB8AC3E}">
        <p14:creationId xmlns:p14="http://schemas.microsoft.com/office/powerpoint/2010/main" val="876226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699092B-89BF-6F9A-780C-D9C03A5C3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570" y="1"/>
            <a:ext cx="54955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7FF2282D-3C19-51F0-02E0-55E7B798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924" y="913277"/>
            <a:ext cx="10257143" cy="3790476"/>
          </a:xfrm>
          <a:prstGeom prst="rect">
            <a:avLst/>
          </a:prstGeom>
        </p:spPr>
      </p:pic>
      <p:pic>
        <p:nvPicPr>
          <p:cNvPr id="5" name="Immagine 4" descr="Immagine che contiene testo, donna, vestiti, Costumi&#10;&#10;Il contenuto generato dall'IA potrebbe non essere corretto.">
            <a:extLst>
              <a:ext uri="{FF2B5EF4-FFF2-40B4-BE49-F238E27FC236}">
                <a16:creationId xmlns:a16="http://schemas.microsoft.com/office/drawing/2014/main" id="{E566F8CD-0278-9F24-1098-125339324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976" y="4809506"/>
            <a:ext cx="1566024" cy="194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228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4905926-ABEA-453F-00B0-FFB6915A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F66ABF-F913-04CD-5313-6180AD3CF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194" y="0"/>
            <a:ext cx="6111611" cy="685800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98F30E63-CA38-C6F5-0108-42BFC304255D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luglio </a:t>
            </a:r>
            <a:r>
              <a:rPr lang="it-I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4336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D59383D7-2AA7-6E0F-0CA4-6351EBC6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03" y="0"/>
            <a:ext cx="10376297" cy="68580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E0F584-0910-A4B2-187F-74DA438714BC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giugno 2024</a:t>
            </a:r>
          </a:p>
        </p:txBody>
      </p:sp>
    </p:spTree>
    <p:extLst>
      <p:ext uri="{BB962C8B-B14F-4D97-AF65-F5344CB8AC3E}">
        <p14:creationId xmlns:p14="http://schemas.microsoft.com/office/powerpoint/2010/main" val="1097045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045CF659-C81F-4091-A1A7-C055015CD75A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luglio </a:t>
            </a:r>
            <a:r>
              <a:rPr lang="it-IT" dirty="0"/>
              <a:t>2024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B2C606-1C3E-E1A4-36D2-3A5A15517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53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534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126257C-5E86-860D-9252-3B970309F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5129"/>
            <a:ext cx="6257143" cy="602857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53ED15A-2B4F-401C-97CA-6ADC1BC4434F}"/>
              </a:ext>
            </a:extLst>
          </p:cNvPr>
          <p:cNvSpPr txBox="1"/>
          <p:nvPr/>
        </p:nvSpPr>
        <p:spPr>
          <a:xfrm>
            <a:off x="219075" y="114300"/>
            <a:ext cx="2419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Esempi di regressione in ambito bancario</a:t>
            </a:r>
            <a:endParaRPr lang="en-GB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CDC6480-AEBA-2CCF-BD00-5C878CB0D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437465"/>
            <a:ext cx="5543165" cy="986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42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94FD74D-16A4-39AB-2362-FC3E9EFD5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73" y="1354759"/>
            <a:ext cx="5876528" cy="526952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E89BF353-2C56-C5E5-20C8-334E23072AAA}"/>
              </a:ext>
            </a:extLst>
          </p:cNvPr>
          <p:cNvSpPr txBox="1"/>
          <p:nvPr/>
        </p:nvSpPr>
        <p:spPr>
          <a:xfrm>
            <a:off x="219075" y="114300"/>
            <a:ext cx="371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Dataset </a:t>
            </a:r>
            <a:r>
              <a:rPr lang="it-IT" b="1" i="1" dirty="0">
                <a:solidFill>
                  <a:srgbClr val="FF0000"/>
                </a:solidFill>
              </a:rPr>
              <a:t>alloggi_vendita.csv</a:t>
            </a:r>
          </a:p>
          <a:p>
            <a:r>
              <a:rPr lang="it-IT" dirty="0"/>
              <a:t>I predittori</a:t>
            </a:r>
            <a:endParaRPr lang="en-GB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0ABC2FD-3D44-E966-3E6C-75CE277DE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095" y="881332"/>
            <a:ext cx="5691787" cy="426664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435F503F-780F-5356-2540-6F6049DE3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381" y="5477048"/>
            <a:ext cx="6247619" cy="1380952"/>
          </a:xfrm>
          <a:prstGeom prst="rect">
            <a:avLst/>
          </a:prstGeom>
        </p:spPr>
      </p:pic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CC3660E8-E51B-ECCD-E6BC-8C25CFBE79F0}"/>
              </a:ext>
            </a:extLst>
          </p:cNvPr>
          <p:cNvCxnSpPr/>
          <p:nvPr/>
        </p:nvCxnSpPr>
        <p:spPr>
          <a:xfrm>
            <a:off x="6810375" y="640080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451FDB16-1CD1-08FD-2E14-6780CFED92B7}"/>
              </a:ext>
            </a:extLst>
          </p:cNvPr>
          <p:cNvCxnSpPr/>
          <p:nvPr/>
        </p:nvCxnSpPr>
        <p:spPr>
          <a:xfrm>
            <a:off x="9877425" y="662428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7A83EF52-4C73-FDD0-868E-87CB04EEA4F6}"/>
              </a:ext>
            </a:extLst>
          </p:cNvPr>
          <p:cNvCxnSpPr/>
          <p:nvPr/>
        </p:nvCxnSpPr>
        <p:spPr>
          <a:xfrm>
            <a:off x="6029326" y="681990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097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0D29381B-2B89-87DC-FEF6-F2DC88298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693135"/>
            <a:ext cx="12192000" cy="442529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E75912B-4A7A-B59A-19F5-2867298FBA19}"/>
              </a:ext>
            </a:extLst>
          </p:cNvPr>
          <p:cNvSpPr txBox="1"/>
          <p:nvPr/>
        </p:nvSpPr>
        <p:spPr>
          <a:xfrm>
            <a:off x="819150" y="2274838"/>
            <a:ext cx="107060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Il file ha </a:t>
            </a:r>
            <a:r>
              <a:rPr lang="en-GB" dirty="0" err="1"/>
              <a:t>l'intestazione</a:t>
            </a:r>
            <a:r>
              <a:rPr lang="en-GB" dirty="0"/>
              <a:t> a </a:t>
            </a:r>
            <a:r>
              <a:rPr lang="en-GB" dirty="0" err="1"/>
              <a:t>tre</a:t>
            </a:r>
            <a:r>
              <a:rPr lang="en-GB" dirty="0"/>
              <a:t> </a:t>
            </a:r>
            <a:r>
              <a:rPr lang="en-GB" dirty="0" err="1"/>
              <a:t>righe</a:t>
            </a:r>
            <a:r>
              <a:rPr lang="en-GB" dirty="0"/>
              <a:t> di Orange: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1 </a:t>
            </a:r>
            <a:r>
              <a:rPr lang="en-GB" dirty="0" err="1"/>
              <a:t>nomi</a:t>
            </a:r>
            <a:r>
              <a:rPr lang="en-GB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2 tipi (</a:t>
            </a:r>
            <a:r>
              <a:rPr lang="en-GB" dirty="0">
                <a:latin typeface="+mn-lt"/>
              </a:rPr>
              <a:t>string</a:t>
            </a:r>
            <a:r>
              <a:rPr lang="en-GB" dirty="0"/>
              <a:t> / </a:t>
            </a:r>
            <a:r>
              <a:rPr lang="en-GB" dirty="0">
                <a:latin typeface="+mn-lt"/>
              </a:rPr>
              <a:t>discrete</a:t>
            </a:r>
            <a:r>
              <a:rPr lang="en-GB" dirty="0"/>
              <a:t> / </a:t>
            </a:r>
            <a:r>
              <a:rPr lang="en-GB" dirty="0">
                <a:latin typeface="+mn-lt"/>
              </a:rPr>
              <a:t>continuous</a:t>
            </a:r>
            <a:r>
              <a:rPr lang="en-GB" dirty="0"/>
              <a:t>),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3 </a:t>
            </a:r>
            <a:r>
              <a:rPr lang="en-GB" dirty="0" err="1"/>
              <a:t>ruoli</a:t>
            </a:r>
            <a:r>
              <a:rPr lang="en-GB" dirty="0"/>
              <a:t> (</a:t>
            </a:r>
            <a:r>
              <a:rPr lang="en-GB" dirty="0">
                <a:latin typeface="+mn-lt"/>
              </a:rPr>
              <a:t>meta</a:t>
            </a:r>
            <a:r>
              <a:rPr lang="en-GB" dirty="0"/>
              <a:t> per </a:t>
            </a:r>
            <a:r>
              <a:rPr lang="en-GB" dirty="0" err="1"/>
              <a:t>l'id</a:t>
            </a:r>
            <a:r>
              <a:rPr lang="en-GB" dirty="0"/>
              <a:t>, </a:t>
            </a:r>
            <a:r>
              <a:rPr lang="en-GB" dirty="0">
                <a:latin typeface="+mn-lt"/>
              </a:rPr>
              <a:t>class</a:t>
            </a:r>
            <a:r>
              <a:rPr lang="en-GB" dirty="0"/>
              <a:t> per il </a:t>
            </a:r>
            <a:r>
              <a:rPr lang="en-GB" dirty="0" err="1"/>
              <a:t>prezzo</a:t>
            </a:r>
            <a:r>
              <a:rPr lang="en-GB" dirty="0"/>
              <a:t>). </a:t>
            </a:r>
          </a:p>
          <a:p>
            <a:endParaRPr lang="en-GB" dirty="0"/>
          </a:p>
          <a:p>
            <a:r>
              <a:rPr lang="en-GB" dirty="0" err="1"/>
              <a:t>Così</a:t>
            </a:r>
            <a:r>
              <a:rPr lang="en-GB" dirty="0"/>
              <a:t> Orange </a:t>
            </a:r>
            <a:r>
              <a:rPr lang="en-GB" dirty="0" err="1"/>
              <a:t>sa</a:t>
            </a:r>
            <a:r>
              <a:rPr lang="en-GB" dirty="0"/>
              <a:t> da solo qual è il target e non </a:t>
            </a:r>
            <a:r>
              <a:rPr lang="en-GB" dirty="0" err="1"/>
              <a:t>deve</a:t>
            </a:r>
            <a:r>
              <a:rPr lang="en-GB" dirty="0"/>
              <a:t> </a:t>
            </a:r>
            <a:r>
              <a:rPr lang="en-GB" dirty="0" err="1"/>
              <a:t>indovinare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tipi, </a:t>
            </a:r>
            <a:r>
              <a:rPr lang="en-GB" dirty="0" err="1"/>
              <a:t>cosa</a:t>
            </a:r>
            <a:r>
              <a:rPr lang="en-GB" dirty="0"/>
              <a:t> </a:t>
            </a:r>
            <a:r>
              <a:rPr lang="en-GB" dirty="0" err="1"/>
              <a:t>che</a:t>
            </a:r>
            <a:r>
              <a:rPr lang="en-GB" dirty="0"/>
              <a:t> con 10 </a:t>
            </a:r>
            <a:r>
              <a:rPr lang="en-GB" dirty="0" err="1"/>
              <a:t>righe</a:t>
            </a:r>
            <a:r>
              <a:rPr lang="en-GB" dirty="0"/>
              <a:t> </a:t>
            </a:r>
            <a:r>
              <a:rPr lang="en-GB" dirty="0" err="1"/>
              <a:t>sbaglierebbe</a:t>
            </a:r>
            <a:r>
              <a:rPr lang="en-GB" dirty="0"/>
              <a:t> di </a:t>
            </a:r>
            <a:r>
              <a:rPr lang="en-GB" dirty="0" err="1"/>
              <a:t>sicuro</a:t>
            </a:r>
            <a:r>
              <a:rPr lang="en-GB" dirty="0"/>
              <a:t> (</a:t>
            </a:r>
            <a:r>
              <a:rPr lang="en-GB" dirty="0" err="1"/>
              <a:t>una</a:t>
            </a:r>
            <a:r>
              <a:rPr lang="en-GB" dirty="0"/>
              <a:t> </a:t>
            </a:r>
            <a:r>
              <a:rPr lang="en-GB" dirty="0" err="1"/>
              <a:t>colonna</a:t>
            </a:r>
            <a:r>
              <a:rPr lang="en-GB" dirty="0"/>
              <a:t> con </a:t>
            </a:r>
            <a:r>
              <a:rPr lang="en-GB" dirty="0" err="1">
                <a:latin typeface="+mn-lt"/>
              </a:rPr>
              <a:t>citta</a:t>
            </a:r>
            <a:r>
              <a:rPr lang="en-GB" dirty="0"/>
              <a:t> diverse in ogni </a:t>
            </a:r>
            <a:r>
              <a:rPr lang="en-GB" dirty="0" err="1"/>
              <a:t>riga</a:t>
            </a:r>
            <a:r>
              <a:rPr lang="en-GB" dirty="0"/>
              <a:t> </a:t>
            </a:r>
            <a:r>
              <a:rPr lang="en-GB" dirty="0" err="1"/>
              <a:t>diventerebbe</a:t>
            </a:r>
            <a:r>
              <a:rPr lang="en-GB" dirty="0"/>
              <a:t> </a:t>
            </a:r>
            <a:r>
              <a:rPr lang="en-GB" dirty="0" err="1"/>
              <a:t>stringa</a:t>
            </a:r>
            <a:r>
              <a:rPr lang="en-GB" dirty="0"/>
              <a:t> e </a:t>
            </a:r>
            <a:r>
              <a:rPr lang="en-GB" dirty="0" err="1"/>
              <a:t>finirebbe</a:t>
            </a:r>
            <a:r>
              <a:rPr lang="en-GB" dirty="0"/>
              <a:t> </a:t>
            </a:r>
            <a:r>
              <a:rPr lang="en-GB" dirty="0" err="1"/>
              <a:t>tra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meta, </a:t>
            </a:r>
            <a:r>
              <a:rPr lang="en-GB" dirty="0" err="1"/>
              <a:t>invisibile</a:t>
            </a:r>
            <a:r>
              <a:rPr lang="en-GB" dirty="0"/>
              <a:t> al </a:t>
            </a:r>
            <a:r>
              <a:rPr lang="en-GB" dirty="0" err="1"/>
              <a:t>modello</a:t>
            </a:r>
            <a:r>
              <a:rPr lang="en-GB" dirty="0"/>
              <a:t>). </a:t>
            </a:r>
          </a:p>
          <a:p>
            <a:endParaRPr lang="en-GB" b="1" i="1" dirty="0">
              <a:solidFill>
                <a:srgbClr val="FF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71444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F6226ED-CABD-BE42-7F0F-72A43CD7A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113" y="676475"/>
            <a:ext cx="10157774" cy="5314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436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3FF65CB-1B76-62FD-1D45-FB7CE9A5A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381" y="657571"/>
            <a:ext cx="6295238" cy="554285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B895BF02-EC8E-C28A-6FA2-82D60CC4BD8D}"/>
              </a:ext>
            </a:extLst>
          </p:cNvPr>
          <p:cNvSpPr txBox="1"/>
          <p:nvPr/>
        </p:nvSpPr>
        <p:spPr>
          <a:xfrm>
            <a:off x="142875" y="171450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Nuove previsioni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1957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88A87EF-A092-00EE-71CE-F13DEC234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836160"/>
            <a:ext cx="5252634" cy="5578499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DB931821-5BA1-38EA-771A-2F30C9D2385B}"/>
              </a:ext>
            </a:extLst>
          </p:cNvPr>
          <p:cNvSpPr txBox="1"/>
          <p:nvPr/>
        </p:nvSpPr>
        <p:spPr>
          <a:xfrm>
            <a:off x="142875" y="171450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Nuove previsioni</a:t>
            </a:r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520973-8EBE-A86F-6258-19EE5E9AE8C1}"/>
              </a:ext>
            </a:extLst>
          </p:cNvPr>
          <p:cNvSpPr txBox="1"/>
          <p:nvPr/>
        </p:nvSpPr>
        <p:spPr>
          <a:xfrm>
            <a:off x="3228974" y="150257"/>
            <a:ext cx="8620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i="1" dirty="0">
                <a:solidFill>
                  <a:srgbClr val="FF0000"/>
                </a:solidFill>
                <a:latin typeface="+mn-lt"/>
              </a:rPr>
              <a:t>nuovi_alloggi.csv</a:t>
            </a:r>
            <a:r>
              <a:rPr lang="en-GB" sz="1800" b="1" i="1" dirty="0">
                <a:solidFill>
                  <a:srgbClr val="FF0000"/>
                </a:solidFill>
              </a:rPr>
              <a:t> </a:t>
            </a:r>
            <a:r>
              <a:rPr lang="en-GB" sz="1800" dirty="0"/>
              <a:t>ha la </a:t>
            </a:r>
            <a:r>
              <a:rPr lang="en-GB" sz="1800" dirty="0" err="1"/>
              <a:t>stessa</a:t>
            </a:r>
            <a:r>
              <a:rPr lang="en-GB" sz="1800" dirty="0"/>
              <a:t> </a:t>
            </a:r>
            <a:r>
              <a:rPr lang="en-GB" sz="1800" dirty="0" err="1"/>
              <a:t>intestazione</a:t>
            </a:r>
            <a:r>
              <a:rPr lang="en-GB" sz="1800" dirty="0"/>
              <a:t> senza la </a:t>
            </a:r>
            <a:r>
              <a:rPr lang="en-GB" sz="1800" dirty="0" err="1"/>
              <a:t>colonna</a:t>
            </a:r>
            <a:r>
              <a:rPr lang="en-GB" sz="1800" dirty="0"/>
              <a:t> </a:t>
            </a:r>
            <a:r>
              <a:rPr lang="en-GB" sz="1800" dirty="0" err="1">
                <a:latin typeface="+mn-lt"/>
              </a:rPr>
              <a:t>prezzo_vendita</a:t>
            </a:r>
            <a:r>
              <a:rPr lang="en-GB" sz="18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073795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67A522C-4660-E603-0D68-4A4B032CA2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798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7BD879FA-4AAD-2D06-5F84-1F028653D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3" y="1051072"/>
            <a:ext cx="5743575" cy="399091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B767153-3ADD-21EB-A122-3B071FAD4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51072"/>
            <a:ext cx="6016717" cy="303491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859D5C-8E0C-7C28-6824-50BE3091D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83" y="90524"/>
            <a:ext cx="2638095" cy="5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63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E3B71-5251-FDFD-078C-B5B18E318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A8F1EA43-BCA2-F53E-E186-2B859F84B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75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722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C36D51-EA32-61EC-F840-EBCE51D5C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3" y="100045"/>
            <a:ext cx="4657143" cy="52381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F70A3545-82BB-4E32-BCE6-5F99E4FBC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1145"/>
            <a:ext cx="6005048" cy="420584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95E6137-22BF-EC2E-8B28-F8BBB5E47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0106" y="961145"/>
            <a:ext cx="6181894" cy="255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977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6513D109-4830-7226-73DD-D1036FD4E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32" y="1485406"/>
            <a:ext cx="5536085" cy="388718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F880780-7E7C-9BC9-EC50-9EB9ACEC8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332" y="97236"/>
            <a:ext cx="3838071" cy="246282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C33EC4-2F4D-12EB-5C9D-AE0A3FCE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227" y="2689935"/>
            <a:ext cx="6096573" cy="4168065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63A533D2-9C08-5F59-EF0D-3EE055408943}"/>
              </a:ext>
            </a:extLst>
          </p:cNvPr>
          <p:cNvGrpSpPr/>
          <p:nvPr/>
        </p:nvGrpSpPr>
        <p:grpSpPr>
          <a:xfrm>
            <a:off x="0" y="97236"/>
            <a:ext cx="5190659" cy="949187"/>
            <a:chOff x="0" y="97236"/>
            <a:chExt cx="5190659" cy="949187"/>
          </a:xfrm>
        </p:grpSpPr>
        <p:pic>
          <p:nvPicPr>
            <p:cNvPr id="3" name="Immagine 2">
              <a:extLst>
                <a:ext uri="{FF2B5EF4-FFF2-40B4-BE49-F238E27FC236}">
                  <a16:creationId xmlns:a16="http://schemas.microsoft.com/office/drawing/2014/main" id="{9D12B9A6-E266-01D0-0047-A5A3B8011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97236"/>
              <a:ext cx="5190659" cy="949187"/>
            </a:xfrm>
            <a:prstGeom prst="rect">
              <a:avLst/>
            </a:prstGeom>
          </p:spPr>
        </p:pic>
        <p:cxnSp>
          <p:nvCxnSpPr>
            <p:cNvPr id="11" name="Connettore diritto 10">
              <a:extLst>
                <a:ext uri="{FF2B5EF4-FFF2-40B4-BE49-F238E27FC236}">
                  <a16:creationId xmlns:a16="http://schemas.microsoft.com/office/drawing/2014/main" id="{F9BC40C1-D104-A43C-CFE2-A33D132DA5A9}"/>
                </a:ext>
              </a:extLst>
            </p:cNvPr>
            <p:cNvCxnSpPr/>
            <p:nvPr/>
          </p:nvCxnSpPr>
          <p:spPr>
            <a:xfrm>
              <a:off x="2924175" y="752475"/>
              <a:ext cx="828675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94682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ADFD77-A24E-4B9D-1BD4-15B0A37D9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275" y="1074399"/>
            <a:ext cx="8691149" cy="457692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8166AE-99AA-EFFC-500D-B0FB98DF2458}"/>
              </a:ext>
            </a:extLst>
          </p:cNvPr>
          <p:cNvSpPr txBox="1"/>
          <p:nvPr/>
        </p:nvSpPr>
        <p:spPr>
          <a:xfrm>
            <a:off x="190500" y="142875"/>
            <a:ext cx="2924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Relazione parabolica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3146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D37C95D-9AEE-3B2C-97E2-4EAF30804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106150" cy="624720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C2B198E-60FF-70CB-C93F-592926EBA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086518"/>
            <a:ext cx="6019048" cy="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0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3810505-1782-2BD1-4B97-EEEC63593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095" y="1962333"/>
            <a:ext cx="6323809" cy="2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05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9D9AF88-7171-3029-5E39-D6D830914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64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9265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187</Words>
  <Application>Microsoft Office PowerPoint</Application>
  <PresentationFormat>Widescreen</PresentationFormat>
  <Paragraphs>32</Paragraphs>
  <Slides>21</Slides>
  <Notes>0</Notes>
  <HiddenSlides>3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Piemontese</dc:creator>
  <cp:lastModifiedBy>Antonio Piemontese</cp:lastModifiedBy>
  <cp:revision>2</cp:revision>
  <dcterms:created xsi:type="dcterms:W3CDTF">2026-09-03T06:44:23Z</dcterms:created>
  <dcterms:modified xsi:type="dcterms:W3CDTF">2026-09-03T07:24:47Z</dcterms:modified>
</cp:coreProperties>
</file>